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0B1DB1-F7D4-4547-A1F8-41FBB381ECA3}">
  <a:tblStyle styleId="{DF0B1DB1-F7D4-4547-A1F8-41FBB381ECA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51cb6aa3b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51cb6aa3b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51cb6aa3b6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51cb6aa3b6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1cb6aa3b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1cb6aa3b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1cb6aa3b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1cb6aa3b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1cb6aa3b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1cb6aa3b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1cb6aa3b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51cb6aa3b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1cb6aa3b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1cb6aa3b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1cb6aa3b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1cb6aa3b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1cb6aa3b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51cb6aa3b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1cb6aa3b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1cb6aa3b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1cb6aa3b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1cb6aa3b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1cb6aa3b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51cb6aa3b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1cb6aa3b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1cb6aa3b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1cb6aa3b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51cb6aa3b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1cb6aa3b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1cb6aa3b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51cb6aa3b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51cb6aa3b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1cb6aa3b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1cb6aa3b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1cb6aa3b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51cb6aa3b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51cb6aa3b6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51cb6aa3b6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1cb6aa3b6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51cb6aa3b6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51cb6aa3b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51cb6aa3b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1cb6aa3b6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51cb6aa3b6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1cb6aa3b6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51cb6aa3b6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51cb6aa3b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51cb6aa3b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1cb6aa3b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51cb6aa3b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51cb6aa3b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51cb6aa3b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51cb6aa3b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51cb6aa3b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51cb6aa3b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51cb6aa3b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1cb6aa3b6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51cb6aa3b6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51cb6aa3b6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51cb6aa3b6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51cb6aa3b6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51cb6aa3b6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1cb6aa3b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1cb6aa3b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51cb6aa3b6_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51cb6aa3b6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51cb6aa3b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51cb6aa3b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51cb6aa3b6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51cb6aa3b6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51cb6aa3b6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51cb6aa3b6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s://github.com/praha1312/Diagnosis_of_polycystic_ovary_syndrom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hyperlink" Target="https://www.kaggle.com/datasets/shreyasvedpathak/pcos-dataset/data?spm=a2ty_o01.29997173.0.0.68d7c921BySeK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57" name="Google Shape;57;p13"/>
          <p:cNvSpPr txBox="1"/>
          <p:nvPr/>
        </p:nvSpPr>
        <p:spPr>
          <a:xfrm>
            <a:off x="85875" y="-65487"/>
            <a:ext cx="8823900" cy="503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i="1" sz="24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i="1" lang="en-GB" sz="2500">
                <a:solidFill>
                  <a:schemeClr val="lt1"/>
                </a:solidFill>
                <a:latin typeface="Times New Roman"/>
                <a:ea typeface="Times New Roman"/>
                <a:cs typeface="Times New Roman"/>
                <a:sym typeface="Times New Roman"/>
              </a:rPr>
              <a:t>Machine Learning-Based Diagnosis of Polycystic Ovary Syndrome (PCOS)</a:t>
            </a:r>
            <a:endParaRPr b="1" i="1" sz="25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t/>
            </a:r>
            <a:endParaRPr b="1" i="1" sz="25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i="1" lang="en-GB" sz="2500">
                <a:solidFill>
                  <a:schemeClr val="lt1"/>
                </a:solidFill>
                <a:latin typeface="Times New Roman"/>
                <a:ea typeface="Times New Roman"/>
                <a:cs typeface="Times New Roman"/>
                <a:sym typeface="Times New Roman"/>
              </a:rPr>
              <a:t>Using Clinical and Physical Features for Accurate and Interpretable Prediction</a:t>
            </a:r>
            <a:endParaRPr b="1" i="1" sz="25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2500">
              <a:solidFill>
                <a:schemeClr val="lt1"/>
              </a:solidFill>
              <a:latin typeface="Times New Roman"/>
              <a:ea typeface="Times New Roman"/>
              <a:cs typeface="Times New Roman"/>
              <a:sym typeface="Times New Roman"/>
            </a:endParaRPr>
          </a:p>
          <a:p>
            <a:pPr indent="0" lvl="0" marL="914400" rtl="0" algn="l">
              <a:spcBef>
                <a:spcPts val="0"/>
              </a:spcBef>
              <a:spcAft>
                <a:spcPts val="0"/>
              </a:spcAft>
              <a:buNone/>
            </a:pPr>
            <a:r>
              <a:rPr b="1" i="1" lang="en-GB" sz="2000">
                <a:solidFill>
                  <a:schemeClr val="lt1"/>
                </a:solidFill>
                <a:latin typeface="Times New Roman"/>
                <a:ea typeface="Times New Roman"/>
                <a:cs typeface="Times New Roman"/>
                <a:sym typeface="Times New Roman"/>
              </a:rPr>
              <a:t>  </a:t>
            </a:r>
            <a:r>
              <a:rPr b="1" i="1" lang="en-GB" sz="2100">
                <a:solidFill>
                  <a:schemeClr val="lt1"/>
                </a:solidFill>
                <a:latin typeface="Times New Roman"/>
                <a:ea typeface="Times New Roman"/>
                <a:cs typeface="Times New Roman"/>
                <a:sym typeface="Times New Roman"/>
              </a:rPr>
              <a:t>Repository link: </a:t>
            </a:r>
            <a:r>
              <a:rPr b="1" i="1" lang="en-GB" sz="2100" u="sng">
                <a:solidFill>
                  <a:schemeClr val="hlink"/>
                </a:solidFill>
                <a:latin typeface="Times New Roman"/>
                <a:ea typeface="Times New Roman"/>
                <a:cs typeface="Times New Roman"/>
                <a:sym typeface="Times New Roman"/>
                <a:hlinkClick r:id="rId4"/>
              </a:rPr>
              <a:t>Diagnosis_of_polycystic_ovary_syndrome</a:t>
            </a:r>
            <a:endParaRPr b="1" i="1"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2900">
              <a:solidFill>
                <a:schemeClr val="lt1"/>
              </a:solidFill>
              <a:latin typeface="Times New Roman"/>
              <a:ea typeface="Times New Roman"/>
              <a:cs typeface="Times New Roman"/>
              <a:sym typeface="Times New Roman"/>
            </a:endParaRPr>
          </a:p>
          <a:p>
            <a:pPr indent="0" lvl="0" marL="5029200" rtl="0" algn="l">
              <a:spcBef>
                <a:spcPts val="0"/>
              </a:spcBef>
              <a:spcAft>
                <a:spcPts val="0"/>
              </a:spcAft>
              <a:buNone/>
            </a:pPr>
            <a:r>
              <a:rPr b="1" lang="en-GB" sz="1900">
                <a:solidFill>
                  <a:schemeClr val="lt1"/>
                </a:solidFill>
                <a:latin typeface="Times New Roman"/>
                <a:ea typeface="Times New Roman"/>
                <a:cs typeface="Times New Roman"/>
                <a:sym typeface="Times New Roman"/>
              </a:rPr>
              <a:t>Team Members &amp; CWIDs:</a:t>
            </a:r>
            <a:endParaRPr b="1" sz="1900">
              <a:solidFill>
                <a:schemeClr val="lt1"/>
              </a:solidFill>
              <a:latin typeface="Times New Roman"/>
              <a:ea typeface="Times New Roman"/>
              <a:cs typeface="Times New Roman"/>
              <a:sym typeface="Times New Roman"/>
            </a:endParaRPr>
          </a:p>
          <a:p>
            <a:pPr indent="0" lvl="0" marL="5029200" rtl="0" algn="l">
              <a:spcBef>
                <a:spcPts val="0"/>
              </a:spcBef>
              <a:spcAft>
                <a:spcPts val="0"/>
              </a:spcAft>
              <a:buNone/>
            </a:pPr>
            <a:r>
              <a:t/>
            </a:r>
            <a:endParaRPr b="1">
              <a:solidFill>
                <a:schemeClr val="lt1"/>
              </a:solidFill>
              <a:latin typeface="Times New Roman"/>
              <a:ea typeface="Times New Roman"/>
              <a:cs typeface="Times New Roman"/>
              <a:sym typeface="Times New Roman"/>
            </a:endParaRPr>
          </a:p>
          <a:p>
            <a:pPr indent="0" lvl="0" marL="5029200" rtl="0" algn="l">
              <a:spcBef>
                <a:spcPts val="0"/>
              </a:spcBef>
              <a:spcAft>
                <a:spcPts val="0"/>
              </a:spcAft>
              <a:buNone/>
            </a:pPr>
            <a:r>
              <a:rPr b="1" lang="en-GB" sz="1100">
                <a:solidFill>
                  <a:schemeClr val="lt1"/>
                </a:solidFill>
                <a:latin typeface="Times New Roman"/>
                <a:ea typeface="Times New Roman"/>
                <a:cs typeface="Times New Roman"/>
                <a:sym typeface="Times New Roman"/>
              </a:rPr>
              <a:t>JEETENDRA GIRISH VASISHT - A20580669</a:t>
            </a:r>
            <a:endParaRPr b="1" sz="1100">
              <a:solidFill>
                <a:schemeClr val="lt1"/>
              </a:solidFill>
              <a:latin typeface="Times New Roman"/>
              <a:ea typeface="Times New Roman"/>
              <a:cs typeface="Times New Roman"/>
              <a:sym typeface="Times New Roman"/>
            </a:endParaRPr>
          </a:p>
          <a:p>
            <a:pPr indent="0" lvl="0" marL="5029200" rtl="0" algn="l">
              <a:spcBef>
                <a:spcPts val="0"/>
              </a:spcBef>
              <a:spcAft>
                <a:spcPts val="0"/>
              </a:spcAft>
              <a:buNone/>
            </a:pPr>
            <a:r>
              <a:rPr b="1" lang="en-GB" sz="1100">
                <a:solidFill>
                  <a:schemeClr val="lt1"/>
                </a:solidFill>
                <a:latin typeface="Times New Roman"/>
                <a:ea typeface="Times New Roman"/>
                <a:cs typeface="Times New Roman"/>
                <a:sym typeface="Times New Roman"/>
              </a:rPr>
              <a:t>FNU ANVIKA - A20556800</a:t>
            </a:r>
            <a:endParaRPr b="1" sz="1100">
              <a:solidFill>
                <a:schemeClr val="lt1"/>
              </a:solidFill>
              <a:latin typeface="Times New Roman"/>
              <a:ea typeface="Times New Roman"/>
              <a:cs typeface="Times New Roman"/>
              <a:sym typeface="Times New Roman"/>
            </a:endParaRPr>
          </a:p>
          <a:p>
            <a:pPr indent="0" lvl="0" marL="5029200" rtl="0" algn="l">
              <a:spcBef>
                <a:spcPts val="0"/>
              </a:spcBef>
              <a:spcAft>
                <a:spcPts val="0"/>
              </a:spcAft>
              <a:buNone/>
            </a:pPr>
            <a:r>
              <a:rPr b="1" lang="en-GB" sz="1100">
                <a:solidFill>
                  <a:schemeClr val="lt1"/>
                </a:solidFill>
                <a:latin typeface="Times New Roman"/>
                <a:ea typeface="Times New Roman"/>
                <a:cs typeface="Times New Roman"/>
                <a:sym typeface="Times New Roman"/>
              </a:rPr>
              <a:t>KAVYA MUNIYUR LAKSHMINARAYANA - A20562801</a:t>
            </a:r>
            <a:endParaRPr b="1" sz="1100">
              <a:solidFill>
                <a:schemeClr val="lt1"/>
              </a:solidFill>
              <a:latin typeface="Times New Roman"/>
              <a:ea typeface="Times New Roman"/>
              <a:cs typeface="Times New Roman"/>
              <a:sym typeface="Times New Roman"/>
            </a:endParaRPr>
          </a:p>
          <a:p>
            <a:pPr indent="0" lvl="0" marL="5029200" rtl="0" algn="l">
              <a:spcBef>
                <a:spcPts val="0"/>
              </a:spcBef>
              <a:spcAft>
                <a:spcPts val="0"/>
              </a:spcAft>
              <a:buNone/>
            </a:pPr>
            <a:r>
              <a:rPr b="1" lang="en-GB" sz="1100">
                <a:solidFill>
                  <a:schemeClr val="lt1"/>
                </a:solidFill>
                <a:latin typeface="Times New Roman"/>
                <a:ea typeface="Times New Roman"/>
                <a:cs typeface="Times New Roman"/>
                <a:sym typeface="Times New Roman"/>
              </a:rPr>
              <a:t>PRAHARSHA RAGHAVAN IYER - A20580673</a:t>
            </a:r>
            <a:endParaRPr b="1" sz="1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3" name="Google Shape;63;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4" name="Google Shape;64;p14"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65" name="Google Shape;65;p14"/>
          <p:cNvSpPr txBox="1"/>
          <p:nvPr/>
        </p:nvSpPr>
        <p:spPr>
          <a:xfrm>
            <a:off x="0" y="0"/>
            <a:ext cx="8592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500" u="sng">
                <a:solidFill>
                  <a:schemeClr val="lt1"/>
                </a:solidFill>
                <a:latin typeface="Times New Roman"/>
                <a:ea typeface="Times New Roman"/>
                <a:cs typeface="Times New Roman"/>
                <a:sym typeface="Times New Roman"/>
              </a:rPr>
              <a:t>Executive Summary</a:t>
            </a:r>
            <a:endParaRPr b="1" i="1" sz="2500" u="sng">
              <a:solidFill>
                <a:schemeClr val="lt1"/>
              </a:solidFill>
              <a:latin typeface="Times New Roman"/>
              <a:ea typeface="Times New Roman"/>
              <a:cs typeface="Times New Roman"/>
              <a:sym typeface="Times New Roman"/>
            </a:endParaRPr>
          </a:p>
        </p:txBody>
      </p:sp>
      <p:sp>
        <p:nvSpPr>
          <p:cNvPr id="66" name="Google Shape;66;p14"/>
          <p:cNvSpPr txBox="1"/>
          <p:nvPr/>
        </p:nvSpPr>
        <p:spPr>
          <a:xfrm>
            <a:off x="90450" y="923750"/>
            <a:ext cx="8443500" cy="3570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GB" sz="2000" u="sng">
                <a:solidFill>
                  <a:schemeClr val="lt1"/>
                </a:solidFill>
                <a:latin typeface="Times New Roman"/>
                <a:ea typeface="Times New Roman"/>
                <a:cs typeface="Times New Roman"/>
                <a:sym typeface="Times New Roman"/>
              </a:rPr>
              <a:t>Problem</a:t>
            </a:r>
            <a:r>
              <a:rPr b="1" i="1" lang="en-GB" sz="2000">
                <a:solidFill>
                  <a:schemeClr val="lt1"/>
                </a:solidFill>
                <a:latin typeface="Times New Roman"/>
                <a:ea typeface="Times New Roman"/>
                <a:cs typeface="Times New Roman"/>
                <a:sym typeface="Times New Roman"/>
              </a:rPr>
              <a:t>:</a:t>
            </a:r>
            <a:r>
              <a:rPr lang="en-GB" sz="2000">
                <a:solidFill>
                  <a:schemeClr val="lt1"/>
                </a:solidFill>
                <a:latin typeface="Times New Roman"/>
                <a:ea typeface="Times New Roman"/>
                <a:cs typeface="Times New Roman"/>
                <a:sym typeface="Times New Roman"/>
              </a:rPr>
              <a:t> Early diagnosis of PCOS is critical due to health risks like infertility, diabetes.</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2000" u="sng">
                <a:solidFill>
                  <a:schemeClr val="lt1"/>
                </a:solidFill>
                <a:latin typeface="Times New Roman"/>
                <a:ea typeface="Times New Roman"/>
                <a:cs typeface="Times New Roman"/>
                <a:sym typeface="Times New Roman"/>
              </a:rPr>
              <a:t>Solution</a:t>
            </a:r>
            <a:r>
              <a:rPr lang="en-GB" sz="2000">
                <a:solidFill>
                  <a:schemeClr val="lt1"/>
                </a:solidFill>
                <a:latin typeface="Times New Roman"/>
                <a:ea typeface="Times New Roman"/>
                <a:cs typeface="Times New Roman"/>
                <a:sym typeface="Times New Roman"/>
              </a:rPr>
              <a:t>: We applied machine learning to a Kaggle dataset of 541 patients.</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2000" u="sng">
                <a:solidFill>
                  <a:schemeClr val="lt1"/>
                </a:solidFill>
                <a:latin typeface="Times New Roman"/>
                <a:ea typeface="Times New Roman"/>
                <a:cs typeface="Times New Roman"/>
                <a:sym typeface="Times New Roman"/>
              </a:rPr>
              <a:t>Key Finding</a:t>
            </a:r>
            <a:r>
              <a:rPr lang="en-GB" sz="2000">
                <a:solidFill>
                  <a:schemeClr val="lt1"/>
                </a:solidFill>
                <a:latin typeface="Times New Roman"/>
                <a:ea typeface="Times New Roman"/>
                <a:cs typeface="Times New Roman"/>
                <a:sym typeface="Times New Roman"/>
              </a:rPr>
              <a:t>: FSH/LH ratio was the most predictive feature.</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2000" u="sng">
                <a:solidFill>
                  <a:schemeClr val="lt1"/>
                </a:solidFill>
                <a:latin typeface="Times New Roman"/>
                <a:ea typeface="Times New Roman"/>
                <a:cs typeface="Times New Roman"/>
                <a:sym typeface="Times New Roman"/>
              </a:rPr>
              <a:t>Best Model</a:t>
            </a:r>
            <a:r>
              <a:rPr lang="en-GB" sz="2000">
                <a:solidFill>
                  <a:schemeClr val="lt1"/>
                </a:solidFill>
                <a:latin typeface="Times New Roman"/>
                <a:ea typeface="Times New Roman"/>
                <a:cs typeface="Times New Roman"/>
                <a:sym typeface="Times New Roman"/>
              </a:rPr>
              <a:t>: Hybrid RFLR achieved 91.01% accuracy and 90% recall.</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2000" u="sng">
                <a:solidFill>
                  <a:schemeClr val="lt1"/>
                </a:solidFill>
                <a:latin typeface="Times New Roman"/>
                <a:ea typeface="Times New Roman"/>
                <a:cs typeface="Times New Roman"/>
                <a:sym typeface="Times New Roman"/>
              </a:rPr>
              <a:t>Recommendation</a:t>
            </a:r>
            <a:r>
              <a:rPr lang="en-GB" sz="2000">
                <a:solidFill>
                  <a:schemeClr val="lt1"/>
                </a:solidFill>
                <a:latin typeface="Times New Roman"/>
                <a:ea typeface="Times New Roman"/>
                <a:cs typeface="Times New Roman"/>
                <a:sym typeface="Times New Roman"/>
              </a:rPr>
              <a:t>: Integrate model into early screening tools; use Explainable AI (XAI) techniques for interpretability.</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2" name="Google Shape;72;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3" name="Google Shape;73;p15"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74" name="Google Shape;74;p15"/>
          <p:cNvSpPr txBox="1"/>
          <p:nvPr/>
        </p:nvSpPr>
        <p:spPr>
          <a:xfrm>
            <a:off x="45850" y="0"/>
            <a:ext cx="8928000" cy="497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300" u="sng">
                <a:solidFill>
                  <a:schemeClr val="lt1"/>
                </a:solidFill>
                <a:latin typeface="Times New Roman"/>
                <a:ea typeface="Times New Roman"/>
                <a:cs typeface="Times New Roman"/>
                <a:sym typeface="Times New Roman"/>
              </a:rPr>
              <a:t>Research Objectives</a:t>
            </a:r>
            <a:endParaRPr b="1" i="1" sz="23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a:solidFill>
                  <a:schemeClr val="lt1"/>
                </a:solidFill>
                <a:latin typeface="Times New Roman"/>
                <a:ea typeface="Times New Roman"/>
                <a:cs typeface="Times New Roman"/>
                <a:sym typeface="Times New Roman"/>
              </a:rPr>
              <a:t>1. Identify key predictors of PCOS</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lt1"/>
                </a:solidFill>
                <a:latin typeface="Times New Roman"/>
                <a:ea typeface="Times New Roman"/>
                <a:cs typeface="Times New Roman"/>
                <a:sym typeface="Times New Roman"/>
              </a:rPr>
              <a:t>Determine the most significant clinical and physical features that contribute to PCOS diagnosis, such as FSH/LH ratio and BMI.</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a:solidFill>
                  <a:schemeClr val="lt1"/>
                </a:solidFill>
                <a:latin typeface="Times New Roman"/>
                <a:ea typeface="Times New Roman"/>
                <a:cs typeface="Times New Roman"/>
                <a:sym typeface="Times New Roman"/>
              </a:rPr>
              <a:t>2. Develop accurate models using clinical features</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lt1"/>
                </a:solidFill>
                <a:latin typeface="Times New Roman"/>
                <a:ea typeface="Times New Roman"/>
                <a:cs typeface="Times New Roman"/>
                <a:sym typeface="Times New Roman"/>
              </a:rPr>
              <a:t>Build machine learning models using clinically relevant data to enable reliable and automated PCOS detection.</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a:solidFill>
                  <a:schemeClr val="lt1"/>
                </a:solidFill>
                <a:latin typeface="Times New Roman"/>
                <a:ea typeface="Times New Roman"/>
                <a:cs typeface="Times New Roman"/>
                <a:sym typeface="Times New Roman"/>
              </a:rPr>
              <a:t>3. Balance performance vs. interpretability</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lt1"/>
                </a:solidFill>
                <a:latin typeface="Times New Roman"/>
                <a:ea typeface="Times New Roman"/>
                <a:cs typeface="Times New Roman"/>
                <a:sym typeface="Times New Roman"/>
              </a:rPr>
              <a:t>Achieve high diagnostic accuracy while ensuring model predictions can be understood and trusted by healthcare professionals.</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a:solidFill>
                  <a:schemeClr val="lt1"/>
                </a:solidFill>
                <a:latin typeface="Times New Roman"/>
                <a:ea typeface="Times New Roman"/>
                <a:cs typeface="Times New Roman"/>
                <a:sym typeface="Times New Roman"/>
              </a:rPr>
              <a:t>4. Evaluate impact of feature selection</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lt1"/>
                </a:solidFill>
                <a:latin typeface="Times New Roman"/>
                <a:ea typeface="Times New Roman"/>
                <a:cs typeface="Times New Roman"/>
                <a:sym typeface="Times New Roman"/>
              </a:rPr>
              <a:t>Assess how selecting only the most important features affects model performance, efficiency, and generalizability.</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1" name="Google Shape;81;p16"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82" name="Google Shape;82;p16"/>
          <p:cNvSpPr txBox="1"/>
          <p:nvPr/>
        </p:nvSpPr>
        <p:spPr>
          <a:xfrm>
            <a:off x="0" y="0"/>
            <a:ext cx="8781900" cy="4342200"/>
          </a:xfrm>
          <a:prstGeom prst="rect">
            <a:avLst/>
          </a:prstGeom>
          <a:noFill/>
          <a:ln>
            <a:noFill/>
          </a:ln>
        </p:spPr>
        <p:txBody>
          <a:bodyPr anchorCtr="0" anchor="t" bIns="91425" lIns="91425" spcFirstLastPara="1" rIns="91425" wrap="square" tIns="91425">
            <a:spAutoFit/>
          </a:bodyPr>
          <a:lstStyle/>
          <a:p>
            <a:pPr indent="0" lvl="0" marL="0" rtl="0" algn="l">
              <a:lnSpc>
                <a:spcPct val="178000"/>
              </a:lnSpc>
              <a:spcBef>
                <a:spcPts val="900"/>
              </a:spcBef>
              <a:spcAft>
                <a:spcPts val="0"/>
              </a:spcAft>
              <a:buNone/>
            </a:pPr>
            <a:r>
              <a:rPr b="1" i="1" lang="en-GB" sz="2450" u="sng">
                <a:solidFill>
                  <a:schemeClr val="lt1"/>
                </a:solidFill>
                <a:latin typeface="Times New Roman"/>
                <a:ea typeface="Times New Roman"/>
                <a:cs typeface="Times New Roman"/>
                <a:sym typeface="Times New Roman"/>
              </a:rPr>
              <a:t>Motivation Behind the Project</a:t>
            </a:r>
            <a:endParaRPr b="1" i="1" sz="2000" u="sng">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rPr b="1" i="1" lang="en-GB" sz="2000">
                <a:solidFill>
                  <a:schemeClr val="lt1"/>
                </a:solidFill>
                <a:latin typeface="Times New Roman"/>
                <a:ea typeface="Times New Roman"/>
                <a:cs typeface="Times New Roman"/>
                <a:sym typeface="Times New Roman"/>
              </a:rPr>
              <a:t>1. Rising prevalence of PCOS globally</a:t>
            </a:r>
            <a:br>
              <a:rPr lang="en-GB" sz="2000">
                <a:solidFill>
                  <a:schemeClr val="lt1"/>
                </a:solidFill>
                <a:latin typeface="Times New Roman"/>
                <a:ea typeface="Times New Roman"/>
                <a:cs typeface="Times New Roman"/>
                <a:sym typeface="Times New Roman"/>
              </a:rPr>
            </a:br>
            <a:r>
              <a:rPr lang="en-GB" sz="2000">
                <a:solidFill>
                  <a:schemeClr val="lt1"/>
                </a:solidFill>
                <a:latin typeface="Times New Roman"/>
                <a:ea typeface="Times New Roman"/>
                <a:cs typeface="Times New Roman"/>
                <a:sym typeface="Times New Roman"/>
              </a:rPr>
              <a:t>PCOS affects 6–8% of women of reproductive age, making it one of the most common endocrine disorders worldwide.</a:t>
            </a:r>
            <a:endParaRPr sz="2000">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rPr b="1" i="1" lang="en-GB" sz="2000">
                <a:solidFill>
                  <a:schemeClr val="lt1"/>
                </a:solidFill>
                <a:latin typeface="Times New Roman"/>
                <a:ea typeface="Times New Roman"/>
                <a:cs typeface="Times New Roman"/>
                <a:sym typeface="Times New Roman"/>
              </a:rPr>
              <a:t>2. Delayed or misdiagnosis common due to symptom variability</a:t>
            </a:r>
            <a:br>
              <a:rPr lang="en-GB" sz="2000">
                <a:solidFill>
                  <a:schemeClr val="lt1"/>
                </a:solidFill>
                <a:latin typeface="Times New Roman"/>
                <a:ea typeface="Times New Roman"/>
                <a:cs typeface="Times New Roman"/>
                <a:sym typeface="Times New Roman"/>
              </a:rPr>
            </a:br>
            <a:r>
              <a:rPr lang="en-GB" sz="2000">
                <a:solidFill>
                  <a:schemeClr val="lt1"/>
                </a:solidFill>
                <a:latin typeface="Times New Roman"/>
                <a:ea typeface="Times New Roman"/>
                <a:cs typeface="Times New Roman"/>
                <a:sym typeface="Times New Roman"/>
              </a:rPr>
              <a:t>Symptoms like irregular periods, hair loss, and acne vary widely among patients, leading to inconsistent and delayed diagnoses.</a:t>
            </a:r>
            <a:endParaRPr sz="2000">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900"/>
              </a:spcAft>
              <a:buNone/>
            </a:pPr>
            <a:r>
              <a:rPr b="1" i="1" lang="en-GB" sz="2000">
                <a:solidFill>
                  <a:schemeClr val="lt1"/>
                </a:solidFill>
                <a:latin typeface="Times New Roman"/>
                <a:ea typeface="Times New Roman"/>
                <a:cs typeface="Times New Roman"/>
                <a:sym typeface="Times New Roman"/>
              </a:rPr>
              <a:t>3. Need for scalable, data-driven diagnostic support tools</a:t>
            </a:r>
            <a:br>
              <a:rPr lang="en-GB" sz="2000">
                <a:solidFill>
                  <a:schemeClr val="lt1"/>
                </a:solidFill>
                <a:latin typeface="Times New Roman"/>
                <a:ea typeface="Times New Roman"/>
                <a:cs typeface="Times New Roman"/>
                <a:sym typeface="Times New Roman"/>
              </a:rPr>
            </a:br>
            <a:r>
              <a:rPr lang="en-GB" sz="2000">
                <a:solidFill>
                  <a:schemeClr val="lt1"/>
                </a:solidFill>
                <a:latin typeface="Times New Roman"/>
                <a:ea typeface="Times New Roman"/>
                <a:cs typeface="Times New Roman"/>
                <a:sym typeface="Times New Roman"/>
              </a:rPr>
              <a:t>Machine learning offers a consistent, efficient, and scalable solution to aid healthcare providers in early and accurate PCOS diagnosis.</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8" name="Google Shape;88;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9" name="Google Shape;89;p17"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90" name="Google Shape;90;p17"/>
          <p:cNvSpPr txBox="1"/>
          <p:nvPr/>
        </p:nvSpPr>
        <p:spPr>
          <a:xfrm>
            <a:off x="0" y="0"/>
            <a:ext cx="84129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i="1" sz="30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3000" u="sng">
                <a:solidFill>
                  <a:schemeClr val="lt1"/>
                </a:solidFill>
                <a:latin typeface="Times New Roman"/>
                <a:ea typeface="Times New Roman"/>
                <a:cs typeface="Times New Roman"/>
                <a:sym typeface="Times New Roman"/>
              </a:rPr>
              <a:t>Dataset Overview</a:t>
            </a:r>
            <a:endParaRPr b="1" i="1" sz="30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30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19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900">
                <a:solidFill>
                  <a:schemeClr val="lt1"/>
                </a:solidFill>
                <a:latin typeface="Times New Roman"/>
                <a:ea typeface="Times New Roman"/>
                <a:cs typeface="Times New Roman"/>
                <a:sym typeface="Times New Roman"/>
              </a:rPr>
              <a:t>Source: </a:t>
            </a:r>
            <a:r>
              <a:rPr lang="en-GB" sz="1900" u="sng">
                <a:solidFill>
                  <a:schemeClr val="hlink"/>
                </a:solidFill>
                <a:latin typeface="Times New Roman"/>
                <a:ea typeface="Times New Roman"/>
                <a:cs typeface="Times New Roman"/>
                <a:sym typeface="Times New Roman"/>
                <a:hlinkClick r:id="rId4"/>
              </a:rPr>
              <a:t>Kaggle Dataset</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900">
                <a:solidFill>
                  <a:schemeClr val="lt1"/>
                </a:solidFill>
                <a:latin typeface="Times New Roman"/>
                <a:ea typeface="Times New Roman"/>
                <a:cs typeface="Times New Roman"/>
                <a:sym typeface="Times New Roman"/>
              </a:rPr>
              <a:t>Size: 541 patients x 43 features</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900">
                <a:solidFill>
                  <a:schemeClr val="lt1"/>
                </a:solidFill>
                <a:latin typeface="Times New Roman"/>
                <a:ea typeface="Times New Roman"/>
                <a:cs typeface="Times New Roman"/>
                <a:sym typeface="Times New Roman"/>
              </a:rPr>
              <a:t>Target: Binary classification (PCOS: Yes/No)</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900">
                <a:solidFill>
                  <a:schemeClr val="lt1"/>
                </a:solidFill>
                <a:latin typeface="Times New Roman"/>
                <a:ea typeface="Times New Roman"/>
                <a:cs typeface="Times New Roman"/>
                <a:sym typeface="Times New Roman"/>
              </a:rPr>
              <a:t>Classes: 177 positive cases, 364 negative cases</a:t>
            </a:r>
            <a:endParaRPr sz="19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6" name="Google Shape;96;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7" name="Google Shape;97;p18"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98" name="Google Shape;98;p18"/>
          <p:cNvSpPr txBox="1"/>
          <p:nvPr/>
        </p:nvSpPr>
        <p:spPr>
          <a:xfrm>
            <a:off x="173125" y="70850"/>
            <a:ext cx="8475000" cy="4807200"/>
          </a:xfrm>
          <a:prstGeom prst="rect">
            <a:avLst/>
          </a:prstGeom>
          <a:noFill/>
          <a:ln>
            <a:noFill/>
          </a:ln>
        </p:spPr>
        <p:txBody>
          <a:bodyPr anchorCtr="0" anchor="t" bIns="91425" lIns="91425" spcFirstLastPara="1" rIns="91425" wrap="square" tIns="91425">
            <a:spAutoFit/>
          </a:bodyPr>
          <a:lstStyle/>
          <a:p>
            <a:pPr indent="0" lvl="0" marL="0" rtl="0" algn="just">
              <a:lnSpc>
                <a:spcPct val="178000"/>
              </a:lnSpc>
              <a:spcBef>
                <a:spcPts val="900"/>
              </a:spcBef>
              <a:spcAft>
                <a:spcPts val="0"/>
              </a:spcAft>
              <a:buNone/>
            </a:pPr>
            <a:r>
              <a:rPr b="1" i="1" lang="en-GB" sz="2400" u="sng">
                <a:solidFill>
                  <a:schemeClr val="lt1"/>
                </a:solidFill>
                <a:latin typeface="Times New Roman"/>
                <a:ea typeface="Times New Roman"/>
                <a:cs typeface="Times New Roman"/>
                <a:sym typeface="Times New Roman"/>
              </a:rPr>
              <a:t>Feature Categories </a:t>
            </a:r>
            <a:endParaRPr b="1" i="1" sz="2400" u="sng">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rPr b="1" i="1" lang="en-GB" sz="1800">
                <a:solidFill>
                  <a:schemeClr val="lt1"/>
                </a:solidFill>
                <a:latin typeface="Times New Roman"/>
                <a:ea typeface="Times New Roman"/>
                <a:cs typeface="Times New Roman"/>
                <a:sym typeface="Times New Roman"/>
              </a:rPr>
              <a:t>1.</a:t>
            </a:r>
            <a:r>
              <a:rPr b="1" i="1" lang="en-GB" sz="1800">
                <a:solidFill>
                  <a:schemeClr val="lt1"/>
                </a:solidFill>
                <a:latin typeface="Times New Roman"/>
                <a:ea typeface="Times New Roman"/>
                <a:cs typeface="Times New Roman"/>
                <a:sym typeface="Times New Roman"/>
              </a:rPr>
              <a:t>Clinical Parameters:</a:t>
            </a:r>
            <a:r>
              <a:rPr lang="en-GB" sz="1600">
                <a:solidFill>
                  <a:schemeClr val="lt1"/>
                </a:solidFill>
                <a:latin typeface="Times New Roman"/>
                <a:ea typeface="Times New Roman"/>
                <a:cs typeface="Times New Roman"/>
                <a:sym typeface="Times New Roman"/>
              </a:rPr>
              <a:t> </a:t>
            </a:r>
            <a:r>
              <a:rPr b="1" lang="en-GB" sz="1600">
                <a:solidFill>
                  <a:schemeClr val="lt1"/>
                </a:solidFill>
                <a:latin typeface="Times New Roman"/>
                <a:ea typeface="Times New Roman"/>
                <a:cs typeface="Times New Roman"/>
                <a:sym typeface="Times New Roman"/>
              </a:rPr>
              <a:t>Hormone levels</a:t>
            </a:r>
            <a:r>
              <a:rPr lang="en-GB" sz="1600">
                <a:solidFill>
                  <a:schemeClr val="lt1"/>
                </a:solidFill>
                <a:latin typeface="Times New Roman"/>
                <a:ea typeface="Times New Roman"/>
                <a:cs typeface="Times New Roman"/>
                <a:sym typeface="Times New Roman"/>
              </a:rPr>
              <a:t> (FSH, LH, TSH, etc.)</a:t>
            </a:r>
            <a:br>
              <a:rPr lang="en-GB" sz="1600">
                <a:solidFill>
                  <a:schemeClr val="lt1"/>
                </a:solidFill>
                <a:latin typeface="Times New Roman"/>
                <a:ea typeface="Times New Roman"/>
                <a:cs typeface="Times New Roman"/>
                <a:sym typeface="Times New Roman"/>
              </a:rPr>
            </a:br>
            <a:r>
              <a:rPr lang="en-GB" sz="1600">
                <a:solidFill>
                  <a:schemeClr val="lt1"/>
                </a:solidFill>
                <a:latin typeface="Times New Roman"/>
                <a:ea typeface="Times New Roman"/>
                <a:cs typeface="Times New Roman"/>
                <a:sym typeface="Times New Roman"/>
              </a:rPr>
              <a:t>	Includes key hormonal indicators essential for diagnosing PCOS, such as Follicle-Stimulating Hormone and Luteinizing Hormone.</a:t>
            </a:r>
            <a:endParaRPr sz="1600">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rPr b="1" i="1" lang="en-GB" sz="1800">
                <a:solidFill>
                  <a:schemeClr val="lt1"/>
                </a:solidFill>
                <a:latin typeface="Times New Roman"/>
                <a:ea typeface="Times New Roman"/>
                <a:cs typeface="Times New Roman"/>
                <a:sym typeface="Times New Roman"/>
              </a:rPr>
              <a:t>2.</a:t>
            </a:r>
            <a:r>
              <a:rPr b="1" i="1" lang="en-GB" sz="1800">
                <a:solidFill>
                  <a:schemeClr val="lt1"/>
                </a:solidFill>
                <a:latin typeface="Times New Roman"/>
                <a:ea typeface="Times New Roman"/>
                <a:cs typeface="Times New Roman"/>
                <a:sym typeface="Times New Roman"/>
              </a:rPr>
              <a:t>Physical Attributes:</a:t>
            </a:r>
            <a:r>
              <a:rPr lang="en-GB" sz="1600">
                <a:solidFill>
                  <a:schemeClr val="lt1"/>
                </a:solidFill>
                <a:latin typeface="Times New Roman"/>
                <a:ea typeface="Times New Roman"/>
                <a:cs typeface="Times New Roman"/>
                <a:sym typeface="Times New Roman"/>
              </a:rPr>
              <a:t> </a:t>
            </a:r>
            <a:r>
              <a:rPr b="1" lang="en-GB" sz="1600">
                <a:solidFill>
                  <a:schemeClr val="lt1"/>
                </a:solidFill>
                <a:latin typeface="Times New Roman"/>
                <a:ea typeface="Times New Roman"/>
                <a:cs typeface="Times New Roman"/>
                <a:sym typeface="Times New Roman"/>
              </a:rPr>
              <a:t>BMI, weight, waist-to-hip ratio</a:t>
            </a:r>
            <a:br>
              <a:rPr lang="en-GB" sz="1600">
                <a:solidFill>
                  <a:schemeClr val="lt1"/>
                </a:solidFill>
                <a:latin typeface="Times New Roman"/>
                <a:ea typeface="Times New Roman"/>
                <a:cs typeface="Times New Roman"/>
                <a:sym typeface="Times New Roman"/>
              </a:rPr>
            </a:br>
            <a:r>
              <a:rPr lang="en-GB" sz="1600">
                <a:solidFill>
                  <a:schemeClr val="lt1"/>
                </a:solidFill>
                <a:latin typeface="Times New Roman"/>
                <a:ea typeface="Times New Roman"/>
                <a:cs typeface="Times New Roman"/>
                <a:sym typeface="Times New Roman"/>
              </a:rPr>
              <a:t>	Captures body composition and metabolic health metrics that are strongly associated with PCOS symptoms.</a:t>
            </a:r>
            <a:endParaRPr sz="1600">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rPr b="1" i="1" lang="en-GB" sz="1800">
                <a:solidFill>
                  <a:schemeClr val="lt1"/>
                </a:solidFill>
                <a:latin typeface="Times New Roman"/>
                <a:ea typeface="Times New Roman"/>
                <a:cs typeface="Times New Roman"/>
                <a:sym typeface="Times New Roman"/>
              </a:rPr>
              <a:t>3.</a:t>
            </a:r>
            <a:r>
              <a:rPr b="1" i="1" lang="en-GB" sz="1800">
                <a:solidFill>
                  <a:schemeClr val="lt1"/>
                </a:solidFill>
                <a:latin typeface="Times New Roman"/>
                <a:ea typeface="Times New Roman"/>
                <a:cs typeface="Times New Roman"/>
                <a:sym typeface="Times New Roman"/>
              </a:rPr>
              <a:t>Symptoms:</a:t>
            </a:r>
            <a:r>
              <a:rPr lang="en-GB" sz="1600">
                <a:solidFill>
                  <a:schemeClr val="lt1"/>
                </a:solidFill>
                <a:latin typeface="Times New Roman"/>
                <a:ea typeface="Times New Roman"/>
                <a:cs typeface="Times New Roman"/>
                <a:sym typeface="Times New Roman"/>
              </a:rPr>
              <a:t> </a:t>
            </a:r>
            <a:r>
              <a:rPr b="1" lang="en-GB" sz="1600">
                <a:solidFill>
                  <a:schemeClr val="lt1"/>
                </a:solidFill>
                <a:latin typeface="Times New Roman"/>
                <a:ea typeface="Times New Roman"/>
                <a:cs typeface="Times New Roman"/>
                <a:sym typeface="Times New Roman"/>
              </a:rPr>
              <a:t>Menstrual cycle irregularities, hair loss, skin darkening</a:t>
            </a:r>
            <a:br>
              <a:rPr lang="en-GB" sz="1600">
                <a:solidFill>
                  <a:schemeClr val="lt1"/>
                </a:solidFill>
                <a:latin typeface="Times New Roman"/>
                <a:ea typeface="Times New Roman"/>
                <a:cs typeface="Times New Roman"/>
                <a:sym typeface="Times New Roman"/>
              </a:rPr>
            </a:br>
            <a:r>
              <a:rPr lang="en-GB" sz="1600">
                <a:solidFill>
                  <a:schemeClr val="lt1"/>
                </a:solidFill>
                <a:latin typeface="Times New Roman"/>
                <a:ea typeface="Times New Roman"/>
                <a:cs typeface="Times New Roman"/>
                <a:sym typeface="Times New Roman"/>
              </a:rPr>
              <a:t>	Records observable patient symptoms commonly linked to PCOS, aiding in both diagnosis and feature importance.</a:t>
            </a:r>
            <a:endParaRPr sz="1600">
              <a:solidFill>
                <a:schemeClr val="lt1"/>
              </a:solidFill>
              <a:latin typeface="Times New Roman"/>
              <a:ea typeface="Times New Roman"/>
              <a:cs typeface="Times New Roman"/>
              <a:sym typeface="Times New Roman"/>
            </a:endParaRPr>
          </a:p>
          <a:p>
            <a:pPr indent="0" lvl="0" marL="0" rtl="0" algn="l">
              <a:lnSpc>
                <a:spcPct val="115000"/>
              </a:lnSpc>
              <a:spcBef>
                <a:spcPts val="900"/>
              </a:spcBef>
              <a:spcAft>
                <a:spcPts val="900"/>
              </a:spcAft>
              <a:buNone/>
            </a:pPr>
            <a:r>
              <a:rPr b="1" i="1" lang="en-GB" sz="1800">
                <a:solidFill>
                  <a:schemeClr val="lt1"/>
                </a:solidFill>
                <a:latin typeface="Times New Roman"/>
                <a:ea typeface="Times New Roman"/>
                <a:cs typeface="Times New Roman"/>
                <a:sym typeface="Times New Roman"/>
              </a:rPr>
              <a:t>4.</a:t>
            </a:r>
            <a:r>
              <a:rPr b="1" i="1" lang="en-GB" sz="1800">
                <a:solidFill>
                  <a:schemeClr val="lt1"/>
                </a:solidFill>
                <a:latin typeface="Times New Roman"/>
                <a:ea typeface="Times New Roman"/>
                <a:cs typeface="Times New Roman"/>
                <a:sym typeface="Times New Roman"/>
              </a:rPr>
              <a:t>Demographic Info:</a:t>
            </a:r>
            <a:r>
              <a:rPr lang="en-GB" sz="1800">
                <a:solidFill>
                  <a:schemeClr val="lt1"/>
                </a:solidFill>
                <a:latin typeface="Times New Roman"/>
                <a:ea typeface="Times New Roman"/>
                <a:cs typeface="Times New Roman"/>
                <a:sym typeface="Times New Roman"/>
              </a:rPr>
              <a:t> </a:t>
            </a:r>
            <a:r>
              <a:rPr b="1" lang="en-GB" sz="1600">
                <a:solidFill>
                  <a:schemeClr val="lt1"/>
                </a:solidFill>
                <a:latin typeface="Times New Roman"/>
                <a:ea typeface="Times New Roman"/>
                <a:cs typeface="Times New Roman"/>
                <a:sym typeface="Times New Roman"/>
              </a:rPr>
              <a:t>Age, infertility status</a:t>
            </a:r>
            <a:br>
              <a:rPr lang="en-GB" sz="1600">
                <a:solidFill>
                  <a:schemeClr val="lt1"/>
                </a:solidFill>
                <a:latin typeface="Times New Roman"/>
                <a:ea typeface="Times New Roman"/>
                <a:cs typeface="Times New Roman"/>
                <a:sym typeface="Times New Roman"/>
              </a:rPr>
            </a:br>
            <a:r>
              <a:rPr lang="en-GB" sz="1600">
                <a:solidFill>
                  <a:schemeClr val="lt1"/>
                </a:solidFill>
                <a:latin typeface="Times New Roman"/>
                <a:ea typeface="Times New Roman"/>
                <a:cs typeface="Times New Roman"/>
                <a:sym typeface="Times New Roman"/>
              </a:rPr>
              <a:t>	Provides contextual information such as age and reproductive health, which can influence PCOS prevalence and outcomes.</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04" name="Google Shape;104;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05" name="Google Shape;105;p19"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06" name="Google Shape;106;p19"/>
          <p:cNvSpPr txBox="1"/>
          <p:nvPr/>
        </p:nvSpPr>
        <p:spPr>
          <a:xfrm>
            <a:off x="0" y="0"/>
            <a:ext cx="8625300" cy="478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000" u="sng">
                <a:solidFill>
                  <a:schemeClr val="lt1"/>
                </a:solidFill>
                <a:latin typeface="Times New Roman"/>
                <a:ea typeface="Times New Roman"/>
                <a:cs typeface="Times New Roman"/>
                <a:sym typeface="Times New Roman"/>
              </a:rPr>
              <a:t>Challenges in the Dataset </a:t>
            </a:r>
            <a:endParaRPr b="1" i="1" sz="20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900">
                <a:solidFill>
                  <a:schemeClr val="lt1"/>
                </a:solidFill>
                <a:latin typeface="Times New Roman"/>
                <a:ea typeface="Times New Roman"/>
                <a:cs typeface="Times New Roman"/>
                <a:sym typeface="Times New Roman"/>
              </a:rPr>
              <a:t>1.Missing values (TSH, Prolactin, etc.)</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Some hormone-related columns contain missing data, requiring imputation strategies like median filling to preserve dataset integrity.</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900">
                <a:solidFill>
                  <a:schemeClr val="lt1"/>
                </a:solidFill>
                <a:latin typeface="Times New Roman"/>
                <a:ea typeface="Times New Roman"/>
                <a:cs typeface="Times New Roman"/>
                <a:sym typeface="Times New Roman"/>
              </a:rPr>
              <a:t>2. String categorical variables ("Yes"/"No")</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Categorical entries need conversion into numerical formats (e.g., label encoding) to be compatible with machine learning algorithms.</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900">
                <a:solidFill>
                  <a:schemeClr val="lt1"/>
                </a:solidFill>
                <a:latin typeface="Times New Roman"/>
                <a:ea typeface="Times New Roman"/>
                <a:cs typeface="Times New Roman"/>
                <a:sym typeface="Times New Roman"/>
              </a:rPr>
              <a:t>3.High dimensionality (43 features)</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The large number of input features increases model complexity and computational cost, necessitating feature selection techniques.</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900">
                <a:solidFill>
                  <a:schemeClr val="lt1"/>
                </a:solidFill>
                <a:latin typeface="Times New Roman"/>
                <a:ea typeface="Times New Roman"/>
                <a:cs typeface="Times New Roman"/>
                <a:sym typeface="Times New Roman"/>
              </a:rPr>
              <a:t>4.Class imbalance?</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Although not severely imbalanced, a difference in class distribution (177 PCOS-positive vs. 364 PCOS-negative) may affect model training and evaluation.</a:t>
            </a:r>
            <a:endParaRPr sz="17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12" name="Google Shape;112;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13" name="Google Shape;113;p20"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14" name="Google Shape;114;p20"/>
          <p:cNvSpPr txBox="1"/>
          <p:nvPr/>
        </p:nvSpPr>
        <p:spPr>
          <a:xfrm>
            <a:off x="0" y="0"/>
            <a:ext cx="8520600" cy="2883300"/>
          </a:xfrm>
          <a:prstGeom prst="rect">
            <a:avLst/>
          </a:prstGeom>
          <a:noFill/>
          <a:ln>
            <a:noFill/>
          </a:ln>
        </p:spPr>
        <p:txBody>
          <a:bodyPr anchorCtr="0" anchor="t" bIns="91425" lIns="91425" spcFirstLastPara="1" rIns="91425" wrap="square" tIns="91425">
            <a:spAutoFit/>
          </a:bodyPr>
          <a:lstStyle/>
          <a:p>
            <a:pPr indent="0" lvl="0" marL="0" rtl="0" algn="l">
              <a:lnSpc>
                <a:spcPct val="178000"/>
              </a:lnSpc>
              <a:spcBef>
                <a:spcPts val="900"/>
              </a:spcBef>
              <a:spcAft>
                <a:spcPts val="0"/>
              </a:spcAft>
              <a:buNone/>
            </a:pPr>
            <a:r>
              <a:rPr b="1" i="1" lang="en-GB" sz="2400" u="sng">
                <a:solidFill>
                  <a:schemeClr val="lt1"/>
                </a:solidFill>
                <a:latin typeface="Times New Roman"/>
                <a:ea typeface="Times New Roman"/>
                <a:cs typeface="Times New Roman"/>
                <a:sym typeface="Times New Roman"/>
              </a:rPr>
              <a:t>Tools &amp; Technologies</a:t>
            </a:r>
            <a:endParaRPr b="1" i="1" sz="2400" u="sng">
              <a:solidFill>
                <a:schemeClr val="lt1"/>
              </a:solidFill>
              <a:latin typeface="Times New Roman"/>
              <a:ea typeface="Times New Roman"/>
              <a:cs typeface="Times New Roman"/>
              <a:sym typeface="Times New Roman"/>
            </a:endParaRPr>
          </a:p>
          <a:p>
            <a:pPr indent="-361950" lvl="0" marL="457200" rtl="0" algn="l">
              <a:lnSpc>
                <a:spcPct val="115000"/>
              </a:lnSpc>
              <a:spcBef>
                <a:spcPts val="1800"/>
              </a:spcBef>
              <a:spcAft>
                <a:spcPts val="0"/>
              </a:spcAft>
              <a:buClr>
                <a:schemeClr val="lt1"/>
              </a:buClr>
              <a:buSzPts val="2100"/>
              <a:buFont typeface="Times New Roman"/>
              <a:buChar char="●"/>
            </a:pPr>
            <a:r>
              <a:rPr lang="en-GB" sz="2100">
                <a:solidFill>
                  <a:schemeClr val="lt1"/>
                </a:solidFill>
                <a:latin typeface="Times New Roman"/>
                <a:ea typeface="Times New Roman"/>
                <a:cs typeface="Times New Roman"/>
                <a:sym typeface="Times New Roman"/>
              </a:rPr>
              <a:t>Language : Python</a:t>
            </a:r>
            <a:endParaRPr sz="2100">
              <a:solidFill>
                <a:schemeClr val="lt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lt1"/>
              </a:buClr>
              <a:buSzPts val="2100"/>
              <a:buFont typeface="Times New Roman"/>
              <a:buChar char="●"/>
            </a:pPr>
            <a:r>
              <a:rPr lang="en-GB" sz="2100">
                <a:solidFill>
                  <a:schemeClr val="lt1"/>
                </a:solidFill>
                <a:latin typeface="Times New Roman"/>
                <a:ea typeface="Times New Roman"/>
                <a:cs typeface="Times New Roman"/>
                <a:sym typeface="Times New Roman"/>
              </a:rPr>
              <a:t>Libraries : Pandas, NumPy, Scikit-Learn, LightGBM, Matplotlib, Seaborn</a:t>
            </a:r>
            <a:endParaRPr sz="2100">
              <a:solidFill>
                <a:schemeClr val="lt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lt1"/>
              </a:buClr>
              <a:buSzPts val="2100"/>
              <a:buFont typeface="Times New Roman"/>
              <a:buChar char="●"/>
            </a:pPr>
            <a:r>
              <a:rPr lang="en-GB" sz="2100">
                <a:solidFill>
                  <a:schemeClr val="lt1"/>
                </a:solidFill>
                <a:latin typeface="Times New Roman"/>
                <a:ea typeface="Times New Roman"/>
                <a:cs typeface="Times New Roman"/>
                <a:sym typeface="Times New Roman"/>
              </a:rPr>
              <a:t>Environment : Jupyter Notebook / Google Colab</a:t>
            </a:r>
            <a:endParaRPr sz="2100">
              <a:solidFill>
                <a:schemeClr val="lt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lt1"/>
              </a:buClr>
              <a:buSzPts val="2100"/>
              <a:buFont typeface="Times New Roman"/>
              <a:buChar char="●"/>
            </a:pPr>
            <a:r>
              <a:rPr lang="en-GB" sz="2100">
                <a:solidFill>
                  <a:schemeClr val="lt1"/>
                </a:solidFill>
                <a:latin typeface="Times New Roman"/>
                <a:ea typeface="Times New Roman"/>
                <a:cs typeface="Times New Roman"/>
                <a:sym typeface="Times New Roman"/>
              </a:rPr>
              <a:t>Version Control : GitHub</a:t>
            </a:r>
            <a:endParaRPr sz="21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20" name="Google Shape;120;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21" name="Google Shape;121;p21" title="DPA_BG.jpg"/>
          <p:cNvPicPr preferRelativeResize="0"/>
          <p:nvPr/>
        </p:nvPicPr>
        <p:blipFill>
          <a:blip r:embed="rId3">
            <a:alphaModFix/>
          </a:blip>
          <a:stretch>
            <a:fillRect/>
          </a:stretch>
        </p:blipFill>
        <p:spPr>
          <a:xfrm>
            <a:off x="-367200" y="-278512"/>
            <a:ext cx="9663600" cy="5430776"/>
          </a:xfrm>
          <a:prstGeom prst="rect">
            <a:avLst/>
          </a:prstGeom>
          <a:noFill/>
          <a:ln>
            <a:noFill/>
          </a:ln>
        </p:spPr>
      </p:pic>
      <p:pic>
        <p:nvPicPr>
          <p:cNvPr id="122" name="Google Shape;122;p21" title="DPA_BG.jpg"/>
          <p:cNvPicPr preferRelativeResize="0"/>
          <p:nvPr/>
        </p:nvPicPr>
        <p:blipFill>
          <a:blip r:embed="rId3">
            <a:alphaModFix/>
          </a:blip>
          <a:stretch>
            <a:fillRect/>
          </a:stretch>
        </p:blipFill>
        <p:spPr>
          <a:xfrm>
            <a:off x="-367200" y="-134875"/>
            <a:ext cx="9663600" cy="5143500"/>
          </a:xfrm>
          <a:prstGeom prst="rect">
            <a:avLst/>
          </a:prstGeom>
          <a:noFill/>
          <a:ln>
            <a:noFill/>
          </a:ln>
        </p:spPr>
      </p:pic>
      <p:sp>
        <p:nvSpPr>
          <p:cNvPr id="123" name="Google Shape;123;p21"/>
          <p:cNvSpPr txBox="1"/>
          <p:nvPr/>
        </p:nvSpPr>
        <p:spPr>
          <a:xfrm>
            <a:off x="311700" y="-102300"/>
            <a:ext cx="75936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i="1" sz="2100" u="sng">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i="1" lang="en-GB" sz="2400" u="sng">
                <a:solidFill>
                  <a:schemeClr val="lt1"/>
                </a:solidFill>
                <a:latin typeface="Times New Roman"/>
                <a:ea typeface="Times New Roman"/>
                <a:cs typeface="Times New Roman"/>
                <a:sym typeface="Times New Roman"/>
              </a:rPr>
              <a:t>Project Timeline</a:t>
            </a:r>
            <a:endParaRPr b="1" sz="21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p:txBody>
      </p:sp>
      <p:pic>
        <p:nvPicPr>
          <p:cNvPr id="124" name="Google Shape;124;p21"/>
          <p:cNvPicPr preferRelativeResize="0"/>
          <p:nvPr/>
        </p:nvPicPr>
        <p:blipFill>
          <a:blip r:embed="rId4">
            <a:alphaModFix/>
          </a:blip>
          <a:stretch>
            <a:fillRect/>
          </a:stretch>
        </p:blipFill>
        <p:spPr>
          <a:xfrm>
            <a:off x="275125" y="1261264"/>
            <a:ext cx="8520601" cy="33775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0" name="Google Shape;130;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31" name="Google Shape;131;p22" title="DPA_BG.jpg"/>
          <p:cNvPicPr preferRelativeResize="0"/>
          <p:nvPr/>
        </p:nvPicPr>
        <p:blipFill>
          <a:blip r:embed="rId3">
            <a:alphaModFix/>
          </a:blip>
          <a:stretch>
            <a:fillRect/>
          </a:stretch>
        </p:blipFill>
        <p:spPr>
          <a:xfrm>
            <a:off x="-336450" y="-287275"/>
            <a:ext cx="9663600" cy="5430776"/>
          </a:xfrm>
          <a:prstGeom prst="rect">
            <a:avLst/>
          </a:prstGeom>
          <a:noFill/>
          <a:ln>
            <a:noFill/>
          </a:ln>
        </p:spPr>
      </p:pic>
      <p:graphicFrame>
        <p:nvGraphicFramePr>
          <p:cNvPr id="132" name="Google Shape;132;p22"/>
          <p:cNvGraphicFramePr/>
          <p:nvPr/>
        </p:nvGraphicFramePr>
        <p:xfrm>
          <a:off x="321713" y="1137625"/>
          <a:ext cx="3000000" cy="3000000"/>
        </p:xfrm>
        <a:graphic>
          <a:graphicData uri="http://schemas.openxmlformats.org/drawingml/2006/table">
            <a:tbl>
              <a:tblPr>
                <a:noFill/>
                <a:tableStyleId>{DF0B1DB1-F7D4-4547-A1F8-41FBB381ECA3}</a:tableStyleId>
              </a:tblPr>
              <a:tblGrid>
                <a:gridCol w="3166450"/>
                <a:gridCol w="4708675"/>
              </a:tblGrid>
              <a:tr h="550700">
                <a:tc>
                  <a:txBody>
                    <a:bodyPr/>
                    <a:lstStyle/>
                    <a:p>
                      <a:pPr indent="0" lvl="0" marL="0" rtl="0" algn="ctr">
                        <a:spcBef>
                          <a:spcPts val="0"/>
                        </a:spcBef>
                        <a:spcAft>
                          <a:spcPts val="0"/>
                        </a:spcAft>
                        <a:buNone/>
                      </a:pPr>
                      <a:r>
                        <a:rPr b="1" i="1" lang="en-GB" sz="2300" u="sng">
                          <a:solidFill>
                            <a:schemeClr val="lt1"/>
                          </a:solidFill>
                          <a:latin typeface="Times New Roman"/>
                          <a:ea typeface="Times New Roman"/>
                          <a:cs typeface="Times New Roman"/>
                          <a:sym typeface="Times New Roman"/>
                        </a:rPr>
                        <a:t>Name</a:t>
                      </a:r>
                      <a:endParaRPr b="1" i="1" sz="2300" u="sng">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GB" sz="2300" u="sng">
                          <a:solidFill>
                            <a:schemeClr val="lt1"/>
                          </a:solidFill>
                          <a:latin typeface="Times New Roman"/>
                          <a:ea typeface="Times New Roman"/>
                          <a:cs typeface="Times New Roman"/>
                          <a:sym typeface="Times New Roman"/>
                        </a:rPr>
                        <a:t>Role</a:t>
                      </a:r>
                      <a:endParaRPr b="1" i="1" sz="2300" u="sng">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50700">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Jeetendra Girish Vasisht</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Data Imputation, Pipeline, EDA</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50700">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FNU Anvika</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Categorical Encoding, Feature Selection</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50700">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Praharsha Raghavan Iyer</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Model Implementation, Hyperparameter Tuning</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50700">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Kavya Muniyur Lakshminarayana</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GB" sz="1700">
                          <a:solidFill>
                            <a:schemeClr val="lt1"/>
                          </a:solidFill>
                          <a:latin typeface="Times New Roman"/>
                          <a:ea typeface="Times New Roman"/>
                          <a:cs typeface="Times New Roman"/>
                          <a:sym typeface="Times New Roman"/>
                        </a:rPr>
                        <a:t>Visualization, Reporting, XAI Integration</a:t>
                      </a:r>
                      <a:endParaRPr b="1" i="1" sz="1700">
                        <a:solidFill>
                          <a:schemeClr val="lt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33" name="Google Shape;133;p22"/>
          <p:cNvSpPr txBox="1"/>
          <p:nvPr/>
        </p:nvSpPr>
        <p:spPr>
          <a:xfrm>
            <a:off x="311700" y="385350"/>
            <a:ext cx="6987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300" u="sng">
                <a:solidFill>
                  <a:schemeClr val="lt1"/>
                </a:solidFill>
                <a:latin typeface="Times New Roman"/>
                <a:ea typeface="Times New Roman"/>
                <a:cs typeface="Times New Roman"/>
                <a:sym typeface="Times New Roman"/>
              </a:rPr>
              <a:t>Team Roles</a:t>
            </a:r>
            <a:endParaRPr b="1" i="1" sz="2300" u="sng">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9" name="Google Shape;139;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40" name="Google Shape;140;p23"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41" name="Google Shape;141;p23"/>
          <p:cNvSpPr txBox="1"/>
          <p:nvPr/>
        </p:nvSpPr>
        <p:spPr>
          <a:xfrm>
            <a:off x="1081400" y="461700"/>
            <a:ext cx="6717300" cy="471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Raw Data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Cleaning  │  ← (Handle missing values, duplicates, etc.)</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Encoding  │  ← (Convert categorical to numeric values)</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Scaling   │  ← (Normalize/standardize features)</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Feature Selection   │  ← (Select most relevant features)</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Modeling  │  ← (Train ML model)</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Explainability    │  ← (SHAP, LIME, etc.)</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GB" sz="900">
                <a:solidFill>
                  <a:schemeClr val="lt1"/>
                </a:solidFill>
                <a:latin typeface="Times New Roman"/>
                <a:ea typeface="Times New Roman"/>
                <a:cs typeface="Times New Roman"/>
                <a:sym typeface="Times New Roman"/>
              </a:rPr>
              <a:t>│  Evaluation  │  ← (Accuracy, F1, ROC-AUC, etc.)</a:t>
            </a:r>
            <a:endParaRPr b="1" sz="9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t/>
            </a:r>
            <a:endParaRPr sz="8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lang="en-GB" sz="800">
                <a:solidFill>
                  <a:schemeClr val="lt1"/>
                </a:solidFill>
                <a:latin typeface="Times New Roman"/>
                <a:ea typeface="Times New Roman"/>
                <a:cs typeface="Times New Roman"/>
                <a:sym typeface="Times New Roman"/>
              </a:rPr>
              <a:t>└──────────────┘</a:t>
            </a:r>
            <a:endParaRPr sz="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800">
              <a:solidFill>
                <a:schemeClr val="lt1"/>
              </a:solidFill>
              <a:latin typeface="Times New Roman"/>
              <a:ea typeface="Times New Roman"/>
              <a:cs typeface="Times New Roman"/>
              <a:sym typeface="Times New Roman"/>
            </a:endParaRPr>
          </a:p>
        </p:txBody>
      </p:sp>
      <p:sp>
        <p:nvSpPr>
          <p:cNvPr id="142" name="Google Shape;142;p23"/>
          <p:cNvSpPr txBox="1"/>
          <p:nvPr/>
        </p:nvSpPr>
        <p:spPr>
          <a:xfrm>
            <a:off x="90875" y="0"/>
            <a:ext cx="523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1800" u="sng">
                <a:solidFill>
                  <a:schemeClr val="lt1"/>
                </a:solidFill>
                <a:latin typeface="Times New Roman"/>
                <a:ea typeface="Times New Roman"/>
                <a:cs typeface="Times New Roman"/>
                <a:sym typeface="Times New Roman"/>
              </a:rPr>
              <a:t>Project Methodology Flowchart</a:t>
            </a:r>
            <a:endParaRPr b="1" i="1" sz="1800" u="sng">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8" name="Google Shape;148;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49" name="Google Shape;149;p24" title="DPA_BG.jpg"/>
          <p:cNvPicPr preferRelativeResize="0"/>
          <p:nvPr/>
        </p:nvPicPr>
        <p:blipFill>
          <a:blip r:embed="rId3">
            <a:alphaModFix/>
          </a:blip>
          <a:stretch>
            <a:fillRect/>
          </a:stretch>
        </p:blipFill>
        <p:spPr>
          <a:xfrm>
            <a:off x="-401475" y="-241850"/>
            <a:ext cx="9663600" cy="5430776"/>
          </a:xfrm>
          <a:prstGeom prst="rect">
            <a:avLst/>
          </a:prstGeom>
          <a:noFill/>
          <a:ln>
            <a:noFill/>
          </a:ln>
        </p:spPr>
      </p:pic>
      <p:sp>
        <p:nvSpPr>
          <p:cNvPr id="150" name="Google Shape;150;p24"/>
          <p:cNvSpPr txBox="1"/>
          <p:nvPr/>
        </p:nvSpPr>
        <p:spPr>
          <a:xfrm>
            <a:off x="0" y="808775"/>
            <a:ext cx="8665200" cy="398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700">
                <a:solidFill>
                  <a:schemeClr val="lt1"/>
                </a:solidFill>
                <a:latin typeface="Times New Roman"/>
                <a:ea typeface="Times New Roman"/>
                <a:cs typeface="Times New Roman"/>
                <a:sym typeface="Times New Roman"/>
              </a:rPr>
              <a:t>1. </a:t>
            </a:r>
            <a:r>
              <a:rPr b="1" i="1" lang="en-GB" sz="1700">
                <a:solidFill>
                  <a:schemeClr val="lt1"/>
                </a:solidFill>
                <a:latin typeface="Times New Roman"/>
                <a:ea typeface="Times New Roman"/>
                <a:cs typeface="Times New Roman"/>
                <a:sym typeface="Times New Roman"/>
              </a:rPr>
              <a:t>Missing value imputation (median):</a:t>
            </a:r>
            <a:endParaRPr b="1" i="1" sz="17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600">
                <a:solidFill>
                  <a:schemeClr val="lt1"/>
                </a:solidFill>
                <a:latin typeface="Times New Roman"/>
                <a:ea typeface="Times New Roman"/>
                <a:cs typeface="Times New Roman"/>
                <a:sym typeface="Times New Roman"/>
              </a:rPr>
              <a:t>Missing values in hormone-related columns (e.g., TSH, Prolactin) were filled using the median to preserve data integrity and reduce bias.</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a:solidFill>
                  <a:schemeClr val="lt1"/>
                </a:solidFill>
                <a:latin typeface="Times New Roman"/>
                <a:ea typeface="Times New Roman"/>
                <a:cs typeface="Times New Roman"/>
                <a:sym typeface="Times New Roman"/>
              </a:rPr>
              <a:t>2. Categorical variable encoding:</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600">
                <a:solidFill>
                  <a:schemeClr val="lt1"/>
                </a:solidFill>
                <a:latin typeface="Times New Roman"/>
                <a:ea typeface="Times New Roman"/>
                <a:cs typeface="Times New Roman"/>
                <a:sym typeface="Times New Roman"/>
              </a:rPr>
              <a:t>String-based categorical variables like "Yes"/"No" were converted into numerical format (e.g., 0/1) using label encoding for model compatibility.</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a:solidFill>
                  <a:schemeClr val="lt1"/>
                </a:solidFill>
                <a:latin typeface="Times New Roman"/>
                <a:ea typeface="Times New Roman"/>
                <a:cs typeface="Times New Roman"/>
                <a:sym typeface="Times New Roman"/>
              </a:rPr>
              <a:t>3. Numerical feature normalization:</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600">
                <a:solidFill>
                  <a:schemeClr val="lt1"/>
                </a:solidFill>
                <a:latin typeface="Times New Roman"/>
                <a:ea typeface="Times New Roman"/>
                <a:cs typeface="Times New Roman"/>
                <a:sym typeface="Times New Roman"/>
              </a:rPr>
              <a:t>Continuous features such as BMI, FSH, and LH levels were normalized to ensure equal contribution during model training and avoid feature dominance.</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lang="en-GB" sz="1800">
                <a:solidFill>
                  <a:schemeClr val="lt1"/>
                </a:solidFill>
                <a:latin typeface="Times New Roman"/>
                <a:ea typeface="Times New Roman"/>
                <a:cs typeface="Times New Roman"/>
                <a:sym typeface="Times New Roman"/>
              </a:rPr>
              <a:t>4. </a:t>
            </a:r>
            <a:r>
              <a:rPr b="1" i="1" lang="en-GB" sz="1800">
                <a:solidFill>
                  <a:schemeClr val="lt1"/>
                </a:solidFill>
                <a:latin typeface="Times New Roman"/>
                <a:ea typeface="Times New Roman"/>
                <a:cs typeface="Times New Roman"/>
                <a:sym typeface="Times New Roman"/>
              </a:rPr>
              <a:t>Train/Test split (70/30):</a:t>
            </a:r>
            <a:endParaRPr b="1" i="1"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600">
                <a:solidFill>
                  <a:schemeClr val="lt1"/>
                </a:solidFill>
                <a:latin typeface="Times New Roman"/>
                <a:ea typeface="Times New Roman"/>
                <a:cs typeface="Times New Roman"/>
                <a:sym typeface="Times New Roman"/>
              </a:rPr>
              <a:t>The dataset was divided into 70% training and 30% testing sets to evaluate model performance on unseen data and prevent overfitting.</a:t>
            </a:r>
            <a:endParaRPr sz="1600">
              <a:solidFill>
                <a:schemeClr val="lt1"/>
              </a:solidFill>
              <a:latin typeface="Times New Roman"/>
              <a:ea typeface="Times New Roman"/>
              <a:cs typeface="Times New Roman"/>
              <a:sym typeface="Times New Roman"/>
            </a:endParaRPr>
          </a:p>
        </p:txBody>
      </p:sp>
      <p:sp>
        <p:nvSpPr>
          <p:cNvPr id="151" name="Google Shape;151;p24"/>
          <p:cNvSpPr txBox="1"/>
          <p:nvPr/>
        </p:nvSpPr>
        <p:spPr>
          <a:xfrm>
            <a:off x="154475" y="245925"/>
            <a:ext cx="5234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200" u="sng">
                <a:solidFill>
                  <a:schemeClr val="lt1"/>
                </a:solidFill>
                <a:latin typeface="Times New Roman"/>
                <a:ea typeface="Times New Roman"/>
                <a:cs typeface="Times New Roman"/>
                <a:sym typeface="Times New Roman"/>
              </a:rPr>
              <a:t>Data Preprocessing Steps</a:t>
            </a:r>
            <a:endParaRPr b="1" i="1" sz="2200" u="sng">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57" name="Google Shape;157;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8" name="Google Shape;158;p25"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59" name="Google Shape;159;p25"/>
          <p:cNvSpPr txBox="1"/>
          <p:nvPr/>
        </p:nvSpPr>
        <p:spPr>
          <a:xfrm>
            <a:off x="0" y="899650"/>
            <a:ext cx="8466600" cy="367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GB" sz="1700">
                <a:solidFill>
                  <a:schemeClr val="lt1"/>
                </a:solidFill>
                <a:latin typeface="Times New Roman"/>
                <a:ea typeface="Times New Roman"/>
                <a:cs typeface="Times New Roman"/>
                <a:sym typeface="Times New Roman"/>
              </a:rPr>
              <a:t>1.</a:t>
            </a:r>
            <a:r>
              <a:rPr b="1" i="1" lang="en-GB" sz="1700">
                <a:solidFill>
                  <a:schemeClr val="lt1"/>
                </a:solidFill>
                <a:latin typeface="Times New Roman"/>
                <a:ea typeface="Times New Roman"/>
                <a:cs typeface="Times New Roman"/>
                <a:sym typeface="Times New Roman"/>
              </a:rPr>
              <a:t> </a:t>
            </a:r>
            <a:r>
              <a:rPr b="1" i="1" lang="en-GB" sz="1900">
                <a:solidFill>
                  <a:schemeClr val="lt1"/>
                </a:solidFill>
                <a:latin typeface="Times New Roman"/>
                <a:ea typeface="Times New Roman"/>
                <a:cs typeface="Times New Roman"/>
                <a:sym typeface="Times New Roman"/>
              </a:rPr>
              <a:t>Higher BMI associated with PCOS:</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Analysis shows that women diagnosed with PCOS tend to have significantly higher Body Mass Index (BMI) values compared to those without the condition, indicating a strong correlation between obesity and PCOS.</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700">
                <a:solidFill>
                  <a:schemeClr val="lt1"/>
                </a:solidFill>
                <a:latin typeface="Times New Roman"/>
                <a:ea typeface="Times New Roman"/>
                <a:cs typeface="Times New Roman"/>
                <a:sym typeface="Times New Roman"/>
              </a:rPr>
              <a:t>2.</a:t>
            </a:r>
            <a:r>
              <a:rPr b="1" i="1" lang="en-GB" sz="1900">
                <a:solidFill>
                  <a:schemeClr val="lt1"/>
                </a:solidFill>
                <a:latin typeface="Times New Roman"/>
                <a:ea typeface="Times New Roman"/>
                <a:cs typeface="Times New Roman"/>
                <a:sym typeface="Times New Roman"/>
              </a:rPr>
              <a:t> Elevated LH levels vs. lower FSH:</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PCOS patients exhibit abnormally high levels of Luteinizing Hormone (LH) relative to Follicle-Stimulating Hormone (FSH), a known hormonal imbalance linked to disrupted ovulation and ovarian dysfunction.</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700">
                <a:solidFill>
                  <a:schemeClr val="lt1"/>
                </a:solidFill>
                <a:latin typeface="Times New Roman"/>
                <a:ea typeface="Times New Roman"/>
                <a:cs typeface="Times New Roman"/>
                <a:sym typeface="Times New Roman"/>
              </a:rPr>
              <a:t>3.</a:t>
            </a:r>
            <a:r>
              <a:rPr b="1" i="1" lang="en-GB" sz="1900">
                <a:solidFill>
                  <a:schemeClr val="lt1"/>
                </a:solidFill>
                <a:latin typeface="Times New Roman"/>
                <a:ea typeface="Times New Roman"/>
                <a:cs typeface="Times New Roman"/>
                <a:sym typeface="Times New Roman"/>
              </a:rPr>
              <a:t> Irregular menstrual cycles more frequent in PCOS group:</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Exploratory data analysis reveals that irregular or prolonged menstrual cycles are markedly more common among women with PCOS, aligning with clinical observations of the syndrome.</a:t>
            </a:r>
            <a:endParaRPr sz="1700">
              <a:solidFill>
                <a:schemeClr val="lt1"/>
              </a:solidFill>
              <a:latin typeface="Times New Roman"/>
              <a:ea typeface="Times New Roman"/>
              <a:cs typeface="Times New Roman"/>
              <a:sym typeface="Times New Roman"/>
            </a:endParaRPr>
          </a:p>
        </p:txBody>
      </p:sp>
      <p:sp>
        <p:nvSpPr>
          <p:cNvPr id="160" name="Google Shape;160;p25"/>
          <p:cNvSpPr txBox="1"/>
          <p:nvPr/>
        </p:nvSpPr>
        <p:spPr>
          <a:xfrm>
            <a:off x="63600" y="136300"/>
            <a:ext cx="5234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100" u="sng">
                <a:solidFill>
                  <a:schemeClr val="lt1"/>
                </a:solidFill>
                <a:latin typeface="Times New Roman"/>
                <a:ea typeface="Times New Roman"/>
                <a:cs typeface="Times New Roman"/>
                <a:sym typeface="Times New Roman"/>
              </a:rPr>
              <a:t>EDA Insights</a:t>
            </a:r>
            <a:endParaRPr b="1" i="1" sz="2100" u="sng">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6" name="Google Shape;166;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7" name="Google Shape;167;p26" title="DPA_BG.jpg"/>
          <p:cNvPicPr preferRelativeResize="0"/>
          <p:nvPr/>
        </p:nvPicPr>
        <p:blipFill>
          <a:blip r:embed="rId3">
            <a:alphaModFix/>
          </a:blip>
          <a:stretch>
            <a:fillRect/>
          </a:stretch>
        </p:blipFill>
        <p:spPr>
          <a:xfrm>
            <a:off x="-519600" y="-54600"/>
            <a:ext cx="9663600" cy="5430776"/>
          </a:xfrm>
          <a:prstGeom prst="rect">
            <a:avLst/>
          </a:prstGeom>
          <a:noFill/>
          <a:ln>
            <a:noFill/>
          </a:ln>
        </p:spPr>
      </p:pic>
      <p:sp>
        <p:nvSpPr>
          <p:cNvPr id="168" name="Google Shape;168;p26"/>
          <p:cNvSpPr txBox="1"/>
          <p:nvPr/>
        </p:nvSpPr>
        <p:spPr>
          <a:xfrm>
            <a:off x="0" y="859900"/>
            <a:ext cx="8351400" cy="3601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GB" sz="2000">
                <a:solidFill>
                  <a:schemeClr val="lt1"/>
                </a:solidFill>
                <a:latin typeface="Times New Roman"/>
                <a:ea typeface="Times New Roman"/>
                <a:cs typeface="Times New Roman"/>
                <a:sym typeface="Times New Roman"/>
              </a:rPr>
              <a:t>1. Scored each feature based on statistical significance:</a:t>
            </a:r>
            <a:endParaRPr b="1" i="1" sz="20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800">
                <a:solidFill>
                  <a:schemeClr val="lt1"/>
                </a:solidFill>
                <a:latin typeface="Times New Roman"/>
                <a:ea typeface="Times New Roman"/>
                <a:cs typeface="Times New Roman"/>
                <a:sym typeface="Times New Roman"/>
              </a:rPr>
              <a:t>Each of the 43 features was evaluated individually using statistical tests (e.g., ANOVA F-value) to determine its predictive power in relation to PCOS diagnosis.</a:t>
            </a:r>
            <a:endParaRPr sz="18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900">
                <a:solidFill>
                  <a:schemeClr val="lt1"/>
                </a:solidFill>
                <a:latin typeface="Times New Roman"/>
                <a:ea typeface="Times New Roman"/>
                <a:cs typeface="Times New Roman"/>
                <a:sym typeface="Times New Roman"/>
              </a:rPr>
              <a:t>2. Ranked all 43 features:</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800">
                <a:solidFill>
                  <a:schemeClr val="lt1"/>
                </a:solidFill>
                <a:latin typeface="Times New Roman"/>
                <a:ea typeface="Times New Roman"/>
                <a:cs typeface="Times New Roman"/>
                <a:sym typeface="Times New Roman"/>
              </a:rPr>
              <a:t>Features were ordered from most to least important based on their scores, allowing us to identify those with the strongest association with PCOS.</a:t>
            </a:r>
            <a:endParaRPr sz="18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900">
                <a:solidFill>
                  <a:schemeClr val="lt1"/>
                </a:solidFill>
                <a:latin typeface="Times New Roman"/>
                <a:ea typeface="Times New Roman"/>
                <a:cs typeface="Times New Roman"/>
                <a:sym typeface="Times New Roman"/>
              </a:rPr>
              <a:t>3. Selected top 10 for modeling:</a:t>
            </a:r>
            <a:endParaRPr b="1" i="1" sz="19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800">
                <a:solidFill>
                  <a:schemeClr val="lt1"/>
                </a:solidFill>
                <a:latin typeface="Times New Roman"/>
                <a:ea typeface="Times New Roman"/>
                <a:cs typeface="Times New Roman"/>
                <a:sym typeface="Times New Roman"/>
              </a:rPr>
              <a:t>The top 10 highest-ranked features, such as FSH/LH ratio and BMI, were chosen for model training to improve efficiency while maintaining high diagnostic accuracy.</a:t>
            </a:r>
            <a:endParaRPr sz="18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lt1"/>
              </a:solidFill>
              <a:latin typeface="Times New Roman"/>
              <a:ea typeface="Times New Roman"/>
              <a:cs typeface="Times New Roman"/>
              <a:sym typeface="Times New Roman"/>
            </a:endParaRPr>
          </a:p>
        </p:txBody>
      </p:sp>
      <p:sp>
        <p:nvSpPr>
          <p:cNvPr id="169" name="Google Shape;169;p26"/>
          <p:cNvSpPr txBox="1"/>
          <p:nvPr/>
        </p:nvSpPr>
        <p:spPr>
          <a:xfrm>
            <a:off x="45425" y="199925"/>
            <a:ext cx="523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000" u="sng">
                <a:solidFill>
                  <a:schemeClr val="lt1"/>
                </a:solidFill>
                <a:latin typeface="Times New Roman"/>
                <a:ea typeface="Times New Roman"/>
                <a:cs typeface="Times New Roman"/>
                <a:sym typeface="Times New Roman"/>
              </a:rPr>
              <a:t>Univariate Feature Selection</a:t>
            </a:r>
            <a:endParaRPr b="1" i="1" sz="2000" u="sng">
              <a:solidFill>
                <a:schemeClr val="lt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75" name="Google Shape;175;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76" name="Google Shape;176;p27"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77" name="Google Shape;177;p27"/>
          <p:cNvSpPr txBox="1"/>
          <p:nvPr/>
        </p:nvSpPr>
        <p:spPr>
          <a:xfrm>
            <a:off x="111450" y="-145625"/>
            <a:ext cx="8520600" cy="486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b="1" i="1" lang="en-GB" sz="1800" u="sng">
                <a:solidFill>
                  <a:srgbClr val="FFFFFF"/>
                </a:solidFill>
                <a:latin typeface="Times New Roman"/>
                <a:ea typeface="Times New Roman"/>
                <a:cs typeface="Times New Roman"/>
                <a:sym typeface="Times New Roman"/>
              </a:rPr>
              <a:t>Top 10 Features Identified </a:t>
            </a:r>
            <a:endParaRPr b="1" i="1" sz="1800" u="sng">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i="1" sz="1800" u="sng">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rgbClr val="FFFFFF"/>
                </a:solidFill>
                <a:latin typeface="Times New Roman"/>
                <a:ea typeface="Times New Roman"/>
                <a:cs typeface="Times New Roman"/>
                <a:sym typeface="Times New Roman"/>
              </a:rPr>
              <a:t>FSH/LH Ratio</a:t>
            </a:r>
            <a:r>
              <a:rPr lang="en-GB">
                <a:solidFill>
                  <a:srgbClr val="FFFFFF"/>
                </a:solidFill>
                <a:latin typeface="Times New Roman"/>
                <a:ea typeface="Times New Roman"/>
                <a:cs typeface="Times New Roman"/>
                <a:sym typeface="Times New Roman"/>
              </a:rPr>
              <a:t> – A critical hormonal indicator, with lower values strongly associated with PCOS due to disrupted ovarian function.</a:t>
            </a:r>
            <a:endParaRPr>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rgbClr val="FFFFFF"/>
                </a:solidFill>
                <a:latin typeface="Times New Roman"/>
                <a:ea typeface="Times New Roman"/>
                <a:cs typeface="Times New Roman"/>
                <a:sym typeface="Times New Roman"/>
              </a:rPr>
              <a:t>BMI</a:t>
            </a:r>
            <a:r>
              <a:rPr lang="en-GB">
                <a:solidFill>
                  <a:srgbClr val="FFFFFF"/>
                </a:solidFill>
                <a:latin typeface="Times New Roman"/>
                <a:ea typeface="Times New Roman"/>
                <a:cs typeface="Times New Roman"/>
                <a:sym typeface="Times New Roman"/>
              </a:rPr>
              <a:t> – Higher BMI is linked to insulin resistance and metabolic complications commonly seen in PCOS patients.</a:t>
            </a:r>
            <a:endParaRPr>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rgbClr val="FFFFFF"/>
                </a:solidFill>
                <a:latin typeface="Times New Roman"/>
                <a:ea typeface="Times New Roman"/>
                <a:cs typeface="Times New Roman"/>
                <a:sym typeface="Times New Roman"/>
              </a:rPr>
              <a:t>TSH (Thyroid-Stimulating Hormone)</a:t>
            </a:r>
            <a:r>
              <a:rPr lang="en-GB">
                <a:solidFill>
                  <a:srgbClr val="FFFFFF"/>
                </a:solidFill>
                <a:latin typeface="Times New Roman"/>
                <a:ea typeface="Times New Roman"/>
                <a:cs typeface="Times New Roman"/>
                <a:sym typeface="Times New Roman"/>
              </a:rPr>
              <a:t> – Abnormal levels can indicate underlying thyroid issues that may co-occur with PCOS.</a:t>
            </a:r>
            <a:endParaRPr>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rgbClr val="FFFFFF"/>
                </a:solidFill>
                <a:latin typeface="Times New Roman"/>
                <a:ea typeface="Times New Roman"/>
                <a:cs typeface="Times New Roman"/>
                <a:sym typeface="Times New Roman"/>
              </a:rPr>
              <a:t>Prolactin</a:t>
            </a:r>
            <a:r>
              <a:rPr lang="en-GB">
                <a:solidFill>
                  <a:srgbClr val="FFFFFF"/>
                </a:solidFill>
                <a:latin typeface="Times New Roman"/>
                <a:ea typeface="Times New Roman"/>
                <a:cs typeface="Times New Roman"/>
                <a:sym typeface="Times New Roman"/>
              </a:rPr>
              <a:t> – Elevated levels are often observed in PCOS and can contribute to menstrual irregularities.</a:t>
            </a:r>
            <a:endParaRPr>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rgbClr val="FFFFFF"/>
                </a:solidFill>
                <a:latin typeface="Times New Roman"/>
                <a:ea typeface="Times New Roman"/>
                <a:cs typeface="Times New Roman"/>
                <a:sym typeface="Times New Roman"/>
              </a:rPr>
              <a:t>Testosterone</a:t>
            </a:r>
            <a:r>
              <a:rPr lang="en-GB">
                <a:solidFill>
                  <a:srgbClr val="FFFFFF"/>
                </a:solidFill>
                <a:latin typeface="Times New Roman"/>
                <a:ea typeface="Times New Roman"/>
                <a:cs typeface="Times New Roman"/>
                <a:sym typeface="Times New Roman"/>
              </a:rPr>
              <a:t> – Increased androgen levels like testosterone are a hallmark of PCOS and contribute to symptoms like hirsutism.</a:t>
            </a:r>
            <a:endParaRPr>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chemeClr val="lt1"/>
                </a:solidFill>
                <a:latin typeface="Times New Roman"/>
                <a:ea typeface="Times New Roman"/>
                <a:cs typeface="Times New Roman"/>
                <a:sym typeface="Times New Roman"/>
              </a:rPr>
              <a:t>Weight</a:t>
            </a:r>
            <a:r>
              <a:rPr lang="en-GB">
                <a:solidFill>
                  <a:schemeClr val="lt1"/>
                </a:solidFill>
                <a:latin typeface="Times New Roman"/>
                <a:ea typeface="Times New Roman"/>
                <a:cs typeface="Times New Roman"/>
                <a:sym typeface="Times New Roman"/>
              </a:rPr>
              <a:t> – PCOS patients often experience weight gain or difficulty losing weight, making it an important physical factor.</a:t>
            </a:r>
            <a:endParaRPr>
              <a:solidFill>
                <a:schemeClr val="lt1"/>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chemeClr val="lt1"/>
                </a:solidFill>
                <a:latin typeface="Times New Roman"/>
                <a:ea typeface="Times New Roman"/>
                <a:cs typeface="Times New Roman"/>
                <a:sym typeface="Times New Roman"/>
              </a:rPr>
              <a:t>Height</a:t>
            </a:r>
            <a:r>
              <a:rPr lang="en-GB">
                <a:solidFill>
                  <a:schemeClr val="lt1"/>
                </a:solidFill>
                <a:latin typeface="Times New Roman"/>
                <a:ea typeface="Times New Roman"/>
                <a:cs typeface="Times New Roman"/>
                <a:sym typeface="Times New Roman"/>
              </a:rPr>
              <a:t> – Used in combination with weight to assess BMI and overall body composition.</a:t>
            </a:r>
            <a:endParaRPr>
              <a:solidFill>
                <a:schemeClr val="lt1"/>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chemeClr val="lt1"/>
                </a:solidFill>
                <a:latin typeface="Times New Roman"/>
                <a:ea typeface="Times New Roman"/>
                <a:cs typeface="Times New Roman"/>
                <a:sym typeface="Times New Roman"/>
              </a:rPr>
              <a:t>Insulin Levels</a:t>
            </a:r>
            <a:r>
              <a:rPr lang="en-GB">
                <a:solidFill>
                  <a:schemeClr val="lt1"/>
                </a:solidFill>
                <a:latin typeface="Times New Roman"/>
                <a:ea typeface="Times New Roman"/>
                <a:cs typeface="Times New Roman"/>
                <a:sym typeface="Times New Roman"/>
              </a:rPr>
              <a:t> – Insulin resistance is a key metabolic feature in many PCOS cases, influencing both diagnosis and treatment.</a:t>
            </a:r>
            <a:endParaRPr>
              <a:solidFill>
                <a:schemeClr val="lt1"/>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chemeClr val="lt1"/>
                </a:solidFill>
                <a:latin typeface="Times New Roman"/>
                <a:ea typeface="Times New Roman"/>
                <a:cs typeface="Times New Roman"/>
                <a:sym typeface="Times New Roman"/>
              </a:rPr>
              <a:t>Skin Darkening (Acanthosis Nigricans)</a:t>
            </a:r>
            <a:r>
              <a:rPr lang="en-GB">
                <a:solidFill>
                  <a:schemeClr val="lt1"/>
                </a:solidFill>
                <a:latin typeface="Times New Roman"/>
                <a:ea typeface="Times New Roman"/>
                <a:cs typeface="Times New Roman"/>
                <a:sym typeface="Times New Roman"/>
              </a:rPr>
              <a:t> – A visible symptom associated with insulin resistance and commonly found in PCOS patients.</a:t>
            </a:r>
            <a:endParaRPr>
              <a:solidFill>
                <a:schemeClr val="lt1"/>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AutoNum type="arabicPeriod"/>
            </a:pPr>
            <a:r>
              <a:rPr b="1" lang="en-GB">
                <a:solidFill>
                  <a:schemeClr val="lt1"/>
                </a:solidFill>
                <a:latin typeface="Times New Roman"/>
                <a:ea typeface="Times New Roman"/>
                <a:cs typeface="Times New Roman"/>
                <a:sym typeface="Times New Roman"/>
              </a:rPr>
              <a:t>Hair Loss (Androgenic Alopecia)</a:t>
            </a:r>
            <a:r>
              <a:rPr lang="en-GB">
                <a:solidFill>
                  <a:schemeClr val="lt1"/>
                </a:solidFill>
                <a:latin typeface="Times New Roman"/>
                <a:ea typeface="Times New Roman"/>
                <a:cs typeface="Times New Roman"/>
                <a:sym typeface="Times New Roman"/>
              </a:rPr>
              <a:t> – Elevated androgens in PCOS can lead to hair thinning or loss, making it a relevant clinical symptom.</a:t>
            </a:r>
            <a:endParaRPr>
              <a:solidFill>
                <a:srgbClr val="FFFFFF"/>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83" name="Google Shape;183;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84" name="Google Shape;184;p28"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85" name="Google Shape;185;p28"/>
          <p:cNvSpPr txBox="1"/>
          <p:nvPr/>
        </p:nvSpPr>
        <p:spPr>
          <a:xfrm>
            <a:off x="172800" y="55075"/>
            <a:ext cx="84597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i="1"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i="1" lang="en-GB" sz="2100">
                <a:solidFill>
                  <a:schemeClr val="lt1"/>
                </a:solidFill>
                <a:latin typeface="Times New Roman"/>
                <a:ea typeface="Times New Roman"/>
                <a:cs typeface="Times New Roman"/>
                <a:sym typeface="Times New Roman"/>
              </a:rPr>
              <a:t>Why These Features Matter Clinically?</a:t>
            </a:r>
            <a:endParaRPr b="1" i="1"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FSH/LH ratio is medically significant</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A lower FSH/LH ratio is a well-established hormonal marker for PCOS, reflecting disrupted ovarian function and aiding in early diagnosis.</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BMI links to insulin resistance</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Elevated BMI, especially in the overweight or obese range, is strongly associated with insulin resistance, a key metabolic factor in PCOS progression.</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Hormonal imbalances are core indicators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Abnormal levels of hormones like TSH, Prolactin, and Testosterone contribute to the endocrine dysregulation seen in PCOS patients, influencing both diagnosis and treatment.</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91" name="Google Shape;191;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92" name="Google Shape;192;p29"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193" name="Google Shape;193;p29"/>
          <p:cNvSpPr txBox="1"/>
          <p:nvPr/>
        </p:nvSpPr>
        <p:spPr>
          <a:xfrm>
            <a:off x="0" y="699725"/>
            <a:ext cx="8608800" cy="4109700"/>
          </a:xfrm>
          <a:prstGeom prst="rect">
            <a:avLst/>
          </a:prstGeom>
          <a:noFill/>
          <a:ln>
            <a:noFill/>
          </a:ln>
        </p:spPr>
        <p:txBody>
          <a:bodyPr anchorCtr="0" anchor="t" bIns="91425" lIns="91425" spcFirstLastPara="1" rIns="91425" wrap="square" tIns="91425">
            <a:spAutoFit/>
          </a:bodyPr>
          <a:lstStyle/>
          <a:p>
            <a:pPr indent="-336550" lvl="0" marL="457200" rtl="0" algn="just">
              <a:spcBef>
                <a:spcPts val="0"/>
              </a:spcBef>
              <a:spcAft>
                <a:spcPts val="0"/>
              </a:spcAft>
              <a:buClr>
                <a:schemeClr val="lt1"/>
              </a:buClr>
              <a:buSzPts val="1700"/>
              <a:buFont typeface="Times New Roman"/>
              <a:buChar char="●"/>
            </a:pPr>
            <a:r>
              <a:rPr b="1" lang="en-GB" sz="1700">
                <a:solidFill>
                  <a:schemeClr val="lt1"/>
                </a:solidFill>
                <a:latin typeface="Times New Roman"/>
                <a:ea typeface="Times New Roman"/>
                <a:cs typeface="Times New Roman"/>
                <a:sym typeface="Times New Roman"/>
              </a:rPr>
              <a:t>Used both classical and ensemble ML algorithms</a:t>
            </a:r>
            <a:endParaRPr b="1" sz="17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rPr lang="en-GB" sz="1700">
                <a:solidFill>
                  <a:schemeClr val="lt1"/>
                </a:solidFill>
                <a:latin typeface="Times New Roman"/>
                <a:ea typeface="Times New Roman"/>
                <a:cs typeface="Times New Roman"/>
                <a:sym typeface="Times New Roman"/>
              </a:rPr>
              <a:t>A diverse set of machine learning models was employed, including classical algorithms like Logistic Regression and Decision Trees , as well as advanced ensemble methods such as Random Forest , Gradient Boosting , and LightGBM , to compare their effectiveness in diagnosing PCOS.</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336550" lvl="0" marL="457200" rtl="0" algn="just">
              <a:spcBef>
                <a:spcPts val="0"/>
              </a:spcBef>
              <a:spcAft>
                <a:spcPts val="0"/>
              </a:spcAft>
              <a:buClr>
                <a:schemeClr val="lt1"/>
              </a:buClr>
              <a:buSzPts val="1700"/>
              <a:buFont typeface="Times New Roman"/>
              <a:buChar char="●"/>
            </a:pPr>
            <a:r>
              <a:rPr b="1" lang="en-GB" sz="1700">
                <a:solidFill>
                  <a:schemeClr val="lt1"/>
                </a:solidFill>
                <a:latin typeface="Times New Roman"/>
                <a:ea typeface="Times New Roman"/>
                <a:cs typeface="Times New Roman"/>
                <a:sym typeface="Times New Roman"/>
              </a:rPr>
              <a:t>Trained and evaluated each one with 40-fold cross-validation</a:t>
            </a:r>
            <a:endParaRPr b="1" sz="17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rPr lang="en-GB" sz="1700">
                <a:solidFill>
                  <a:schemeClr val="lt1"/>
                </a:solidFill>
                <a:latin typeface="Times New Roman"/>
                <a:ea typeface="Times New Roman"/>
                <a:cs typeface="Times New Roman"/>
                <a:sym typeface="Times New Roman"/>
              </a:rPr>
              <a:t>To ensure robustness and generalizability, all models were trained using 40-fold cross-validation , minimizing variance in performance estimates and ensuring reliable evaluation across the dataset.</a:t>
            </a:r>
            <a:endParaRPr sz="17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336550" lvl="0" marL="457200" rtl="0" algn="just">
              <a:spcBef>
                <a:spcPts val="0"/>
              </a:spcBef>
              <a:spcAft>
                <a:spcPts val="0"/>
              </a:spcAft>
              <a:buClr>
                <a:schemeClr val="lt1"/>
              </a:buClr>
              <a:buSzPts val="1700"/>
              <a:buFont typeface="Times New Roman"/>
              <a:buChar char="●"/>
            </a:pPr>
            <a:r>
              <a:rPr b="1" lang="en-GB" sz="1700">
                <a:solidFill>
                  <a:schemeClr val="lt1"/>
                </a:solidFill>
                <a:latin typeface="Times New Roman"/>
                <a:ea typeface="Times New Roman"/>
                <a:cs typeface="Times New Roman"/>
                <a:sym typeface="Times New Roman"/>
              </a:rPr>
              <a:t>Compared accuracy, precision, recall, F1-score</a:t>
            </a:r>
            <a:endParaRPr b="1" sz="17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rPr lang="en-GB" sz="1700">
                <a:solidFill>
                  <a:schemeClr val="lt1"/>
                </a:solidFill>
                <a:latin typeface="Times New Roman"/>
                <a:ea typeface="Times New Roman"/>
                <a:cs typeface="Times New Roman"/>
                <a:sym typeface="Times New Roman"/>
              </a:rPr>
              <a:t>Model performance was assessed using key classification metrics — Accuracy , Precision , Recall , and F1-Score — to balance overall correctness with the ability to correctly identify PCOS-positive cases (minimizing false negatives).</a:t>
            </a:r>
            <a:endParaRPr sz="1700">
              <a:solidFill>
                <a:schemeClr val="lt1"/>
              </a:solidFill>
              <a:latin typeface="Times New Roman"/>
              <a:ea typeface="Times New Roman"/>
              <a:cs typeface="Times New Roman"/>
              <a:sym typeface="Times New Roman"/>
            </a:endParaRPr>
          </a:p>
        </p:txBody>
      </p:sp>
      <p:sp>
        <p:nvSpPr>
          <p:cNvPr id="194" name="Google Shape;194;p29"/>
          <p:cNvSpPr txBox="1"/>
          <p:nvPr/>
        </p:nvSpPr>
        <p:spPr>
          <a:xfrm>
            <a:off x="54525" y="0"/>
            <a:ext cx="5234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200" u="sng">
                <a:solidFill>
                  <a:schemeClr val="lt1"/>
                </a:solidFill>
                <a:latin typeface="Times New Roman"/>
                <a:ea typeface="Times New Roman"/>
                <a:cs typeface="Times New Roman"/>
                <a:sym typeface="Times New Roman"/>
              </a:rPr>
              <a:t>Modeling Approach</a:t>
            </a:r>
            <a:endParaRPr b="1" i="1" sz="2600" u="sng">
              <a:solidFill>
                <a:schemeClr val="dk2"/>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00" name="Google Shape;200;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01" name="Google Shape;201;p30" title="DPA_BG.jpg"/>
          <p:cNvPicPr preferRelativeResize="0"/>
          <p:nvPr/>
        </p:nvPicPr>
        <p:blipFill>
          <a:blip r:embed="rId3">
            <a:alphaModFix/>
          </a:blip>
          <a:stretch>
            <a:fillRect/>
          </a:stretch>
        </p:blipFill>
        <p:spPr>
          <a:xfrm>
            <a:off x="-519600" y="-211075"/>
            <a:ext cx="9663600" cy="5430776"/>
          </a:xfrm>
          <a:prstGeom prst="rect">
            <a:avLst/>
          </a:prstGeom>
          <a:noFill/>
          <a:ln>
            <a:noFill/>
          </a:ln>
        </p:spPr>
      </p:pic>
      <p:sp>
        <p:nvSpPr>
          <p:cNvPr id="202" name="Google Shape;202;p30"/>
          <p:cNvSpPr txBox="1"/>
          <p:nvPr/>
        </p:nvSpPr>
        <p:spPr>
          <a:xfrm>
            <a:off x="112350" y="-6450"/>
            <a:ext cx="8399700" cy="178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GB" sz="2200" u="sng">
                <a:solidFill>
                  <a:schemeClr val="lt1"/>
                </a:solidFill>
                <a:latin typeface="Times New Roman"/>
                <a:ea typeface="Times New Roman"/>
                <a:cs typeface="Times New Roman"/>
                <a:sym typeface="Times New Roman"/>
              </a:rPr>
              <a:t>Algorithms Tested </a:t>
            </a:r>
            <a:endParaRPr b="1" i="1" sz="22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900">
              <a:solidFill>
                <a:schemeClr val="lt1"/>
              </a:solidFill>
              <a:latin typeface="Times New Roman"/>
              <a:ea typeface="Times New Roman"/>
              <a:cs typeface="Times New Roman"/>
              <a:sym typeface="Times New Roman"/>
            </a:endParaRPr>
          </a:p>
          <a:p>
            <a:pPr indent="-330200" lvl="0" marL="457200" rtl="0" algn="just">
              <a:spcBef>
                <a:spcPts val="0"/>
              </a:spcBef>
              <a:spcAft>
                <a:spcPts val="0"/>
              </a:spcAft>
              <a:buClr>
                <a:schemeClr val="lt1"/>
              </a:buClr>
              <a:buSzPts val="1600"/>
              <a:buFont typeface="Times New Roman"/>
              <a:buChar char="●"/>
            </a:pPr>
            <a:r>
              <a:rPr b="1" lang="en-GB" sz="1600" u="sng">
                <a:solidFill>
                  <a:schemeClr val="lt1"/>
                </a:solidFill>
                <a:latin typeface="Times New Roman"/>
                <a:ea typeface="Times New Roman"/>
                <a:cs typeface="Times New Roman"/>
                <a:sym typeface="Times New Roman"/>
              </a:rPr>
              <a:t>Logistic Regression</a:t>
            </a:r>
            <a:endParaRPr b="1" sz="16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600">
                <a:solidFill>
                  <a:schemeClr val="lt1"/>
                </a:solidFill>
                <a:latin typeface="Times New Roman"/>
                <a:ea typeface="Times New Roman"/>
                <a:cs typeface="Times New Roman"/>
                <a:sym typeface="Times New Roman"/>
              </a:rPr>
              <a:t>A simple, interpretable model that served as a strong baseline for binary classification of PCOS.</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203" name="Google Shape;203;p30"/>
          <p:cNvPicPr preferRelativeResize="0"/>
          <p:nvPr/>
        </p:nvPicPr>
        <p:blipFill rotWithShape="1">
          <a:blip r:embed="rId4">
            <a:alphaModFix/>
          </a:blip>
          <a:srcRect b="2919" l="0" r="0" t="-2920"/>
          <a:stretch/>
        </p:blipFill>
        <p:spPr>
          <a:xfrm>
            <a:off x="175925" y="1277075"/>
            <a:ext cx="5072825" cy="3651300"/>
          </a:xfrm>
          <a:prstGeom prst="rect">
            <a:avLst/>
          </a:prstGeom>
          <a:noFill/>
          <a:ln>
            <a:noFill/>
          </a:ln>
        </p:spPr>
      </p:pic>
      <p:sp>
        <p:nvSpPr>
          <p:cNvPr id="204" name="Google Shape;204;p30"/>
          <p:cNvSpPr txBox="1"/>
          <p:nvPr/>
        </p:nvSpPr>
        <p:spPr>
          <a:xfrm>
            <a:off x="5248750" y="1291775"/>
            <a:ext cx="3583500" cy="36219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800"/>
              </a:spcBef>
              <a:spcAft>
                <a:spcPts val="0"/>
              </a:spcAft>
              <a:buClr>
                <a:schemeClr val="lt1"/>
              </a:buClr>
              <a:buSzPts val="1400"/>
              <a:buFont typeface="Times New Roman"/>
              <a:buChar char="➢"/>
            </a:pPr>
            <a:r>
              <a:rPr lang="en-GB">
                <a:solidFill>
                  <a:schemeClr val="lt1"/>
                </a:solidFill>
                <a:latin typeface="Times New Roman"/>
                <a:ea typeface="Times New Roman"/>
                <a:cs typeface="Times New Roman"/>
                <a:sym typeface="Times New Roman"/>
              </a:rPr>
              <a:t>The bar chart shows the performance metrics of Logistic Regression, highlighting that Accuracy is the highest (0.8), followed by RMSE (0.45), while MSE and MAE have lower values, and R-Squared is the lowest at approximately 0.1.</a:t>
            </a:r>
            <a:endParaRPr>
              <a:solidFill>
                <a:schemeClr val="lt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lt1"/>
              </a:buClr>
              <a:buSzPts val="1400"/>
              <a:buFont typeface="Times New Roman"/>
              <a:buChar char="➢"/>
            </a:pPr>
            <a:r>
              <a:rPr lang="en-GB">
                <a:solidFill>
                  <a:schemeClr val="lt1"/>
                </a:solidFill>
                <a:latin typeface="Times New Roman"/>
                <a:ea typeface="Times New Roman"/>
                <a:cs typeface="Times New Roman"/>
                <a:sym typeface="Times New Roman"/>
              </a:rPr>
              <a:t>This visualization indicates that Logistic Regression achieves a high level of accuracy (80%) but has relatively low explanatory power (R-Squared ~0.1), suggesting strong predictive capability but limited insight into variance explained in the dataset.</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10" name="Google Shape;210;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11" name="Google Shape;211;p31"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212" name="Google Shape;212;p31"/>
          <p:cNvSpPr txBox="1"/>
          <p:nvPr/>
        </p:nvSpPr>
        <p:spPr>
          <a:xfrm>
            <a:off x="184775" y="-171725"/>
            <a:ext cx="8399700" cy="181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t/>
            </a:r>
            <a:endParaRPr sz="1700">
              <a:solidFill>
                <a:schemeClr val="lt1"/>
              </a:solidFill>
              <a:latin typeface="Times New Roman"/>
              <a:ea typeface="Times New Roman"/>
              <a:cs typeface="Times New Roman"/>
              <a:sym typeface="Times New Roman"/>
            </a:endParaRPr>
          </a:p>
          <a:p>
            <a:pPr indent="-336550" lvl="0" marL="457200" rtl="0" algn="just">
              <a:spcBef>
                <a:spcPts val="0"/>
              </a:spcBef>
              <a:spcAft>
                <a:spcPts val="0"/>
              </a:spcAft>
              <a:buClr>
                <a:schemeClr val="lt1"/>
              </a:buClr>
              <a:buSzPts val="1700"/>
              <a:buFont typeface="Times New Roman"/>
              <a:buChar char="●"/>
            </a:pPr>
            <a:r>
              <a:rPr b="1" lang="en-GB" sz="1700" u="sng">
                <a:solidFill>
                  <a:schemeClr val="lt1"/>
                </a:solidFill>
                <a:latin typeface="Times New Roman"/>
                <a:ea typeface="Times New Roman"/>
                <a:cs typeface="Times New Roman"/>
                <a:sym typeface="Times New Roman"/>
              </a:rPr>
              <a:t>Decision Tree</a:t>
            </a:r>
            <a:endParaRPr b="1" sz="17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en-GB" sz="1700">
                <a:solidFill>
                  <a:schemeClr val="lt1"/>
                </a:solidFill>
                <a:latin typeface="Times New Roman"/>
                <a:ea typeface="Times New Roman"/>
                <a:cs typeface="Times New Roman"/>
                <a:sym typeface="Times New Roman"/>
              </a:rPr>
              <a:t>An intuitive model that splits data based on feature thresholds but is prone to overfitting.</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17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24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213" name="Google Shape;213;p31"/>
          <p:cNvPicPr preferRelativeResize="0"/>
          <p:nvPr/>
        </p:nvPicPr>
        <p:blipFill>
          <a:blip r:embed="rId4">
            <a:alphaModFix/>
          </a:blip>
          <a:stretch>
            <a:fillRect/>
          </a:stretch>
        </p:blipFill>
        <p:spPr>
          <a:xfrm>
            <a:off x="3722125" y="893613"/>
            <a:ext cx="5239751" cy="4001025"/>
          </a:xfrm>
          <a:prstGeom prst="rect">
            <a:avLst/>
          </a:prstGeom>
          <a:noFill/>
          <a:ln>
            <a:noFill/>
          </a:ln>
        </p:spPr>
      </p:pic>
      <p:sp>
        <p:nvSpPr>
          <p:cNvPr id="214" name="Google Shape;214;p31"/>
          <p:cNvSpPr txBox="1"/>
          <p:nvPr/>
        </p:nvSpPr>
        <p:spPr>
          <a:xfrm>
            <a:off x="89100" y="942425"/>
            <a:ext cx="3443400" cy="36219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800"/>
              </a:spcBef>
              <a:spcAft>
                <a:spcPts val="0"/>
              </a:spcAft>
              <a:buClr>
                <a:schemeClr val="lt1"/>
              </a:buClr>
              <a:buSzPts val="1400"/>
              <a:buFont typeface="Times New Roman"/>
              <a:buChar char="➢"/>
            </a:pPr>
            <a:r>
              <a:rPr lang="en-GB">
                <a:solidFill>
                  <a:schemeClr val="lt1"/>
                </a:solidFill>
                <a:latin typeface="Times New Roman"/>
                <a:ea typeface="Times New Roman"/>
                <a:cs typeface="Times New Roman"/>
                <a:sym typeface="Times New Roman"/>
              </a:rPr>
              <a:t>The bar chart shows the performance metrics of a Decision Tree model, highlighting that Accuracy is the highest (0.8), followed by RMSE (0.5), while MSE and MAE have lower values, and R-Squared is negative.</a:t>
            </a:r>
            <a:br>
              <a:rPr lang="en-GB">
                <a:solidFill>
                  <a:schemeClr val="lt1"/>
                </a:solidFill>
                <a:latin typeface="Times New Roman"/>
                <a:ea typeface="Times New Roman"/>
                <a:cs typeface="Times New Roman"/>
                <a:sym typeface="Times New Roman"/>
              </a:rPr>
            </a:br>
            <a:endParaRPr>
              <a:solidFill>
                <a:schemeClr val="lt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lt1"/>
              </a:buClr>
              <a:buSzPts val="1400"/>
              <a:buFont typeface="Times New Roman"/>
              <a:buChar char="➢"/>
            </a:pPr>
            <a:r>
              <a:rPr lang="en-GB">
                <a:solidFill>
                  <a:schemeClr val="lt1"/>
                </a:solidFill>
                <a:latin typeface="Times New Roman"/>
                <a:ea typeface="Times New Roman"/>
                <a:cs typeface="Times New Roman"/>
                <a:sym typeface="Times New Roman"/>
              </a:rPr>
              <a:t>This visualization indicates that the Decision Tree model achieves high accuracy but has limited explanatory power (as evidenced by the negative R-Squared value), suggesting it may overfit or fail to capture variance in the dataset effectively.</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20" name="Google Shape;220;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21" name="Google Shape;221;p32"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222" name="Google Shape;222;p32"/>
          <p:cNvSpPr txBox="1"/>
          <p:nvPr/>
        </p:nvSpPr>
        <p:spPr>
          <a:xfrm>
            <a:off x="112350" y="-499800"/>
            <a:ext cx="8399700" cy="1970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b="1" sz="1700" u="sng">
              <a:solidFill>
                <a:schemeClr val="lt1"/>
              </a:solidFill>
              <a:latin typeface="Times New Roman"/>
              <a:ea typeface="Times New Roman"/>
              <a:cs typeface="Times New Roman"/>
              <a:sym typeface="Times New Roman"/>
            </a:endParaRPr>
          </a:p>
          <a:p>
            <a:pPr indent="-336550" lvl="0" marL="457200" rtl="0" algn="just">
              <a:spcBef>
                <a:spcPts val="0"/>
              </a:spcBef>
              <a:spcAft>
                <a:spcPts val="0"/>
              </a:spcAft>
              <a:buClr>
                <a:schemeClr val="lt1"/>
              </a:buClr>
              <a:buSzPts val="1700"/>
              <a:buFont typeface="Times New Roman"/>
              <a:buChar char="●"/>
            </a:pPr>
            <a:r>
              <a:rPr b="1" lang="en-GB" sz="1700" u="sng">
                <a:solidFill>
                  <a:schemeClr val="lt1"/>
                </a:solidFill>
                <a:latin typeface="Times New Roman"/>
                <a:ea typeface="Times New Roman"/>
                <a:cs typeface="Times New Roman"/>
                <a:sym typeface="Times New Roman"/>
              </a:rPr>
              <a:t>Random Forest</a:t>
            </a:r>
            <a:endParaRPr b="1" sz="17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An ensemble method that improved accuracy and reduced overfitting by combining multiple decision trees.</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223" name="Google Shape;223;p32"/>
          <p:cNvPicPr preferRelativeResize="0"/>
          <p:nvPr/>
        </p:nvPicPr>
        <p:blipFill>
          <a:blip r:embed="rId4">
            <a:alphaModFix/>
          </a:blip>
          <a:stretch>
            <a:fillRect/>
          </a:stretch>
        </p:blipFill>
        <p:spPr>
          <a:xfrm>
            <a:off x="112350" y="1070175"/>
            <a:ext cx="5262324" cy="3643475"/>
          </a:xfrm>
          <a:prstGeom prst="rect">
            <a:avLst/>
          </a:prstGeom>
          <a:noFill/>
          <a:ln>
            <a:noFill/>
          </a:ln>
        </p:spPr>
      </p:pic>
      <p:sp>
        <p:nvSpPr>
          <p:cNvPr id="224" name="Google Shape;224;p32"/>
          <p:cNvSpPr txBox="1"/>
          <p:nvPr/>
        </p:nvSpPr>
        <p:spPr>
          <a:xfrm>
            <a:off x="5421875" y="1070175"/>
            <a:ext cx="3243300" cy="3601800"/>
          </a:xfrm>
          <a:prstGeom prst="rect">
            <a:avLst/>
          </a:prstGeom>
          <a:noFill/>
          <a:ln>
            <a:noFill/>
          </a:ln>
        </p:spPr>
        <p:txBody>
          <a:bodyPr anchorCtr="0" anchor="t" bIns="91425" lIns="91425" spcFirstLastPara="1" rIns="91425" wrap="square" tIns="91425">
            <a:spAutoFit/>
          </a:bodyPr>
          <a:lstStyle/>
          <a:p>
            <a:pPr indent="-323850" lvl="0" marL="457200" rtl="0" algn="just">
              <a:lnSpc>
                <a:spcPct val="115000"/>
              </a:lnSpc>
              <a:spcBef>
                <a:spcPts val="1800"/>
              </a:spcBef>
              <a:spcAft>
                <a:spcPts val="0"/>
              </a:spcAft>
              <a:buClr>
                <a:schemeClr val="lt1"/>
              </a:buClr>
              <a:buSzPts val="1500"/>
              <a:buFont typeface="Times New Roman"/>
              <a:buChar char="➢"/>
            </a:pPr>
            <a:r>
              <a:rPr lang="en-GB" sz="1500">
                <a:solidFill>
                  <a:schemeClr val="lt1"/>
                </a:solidFill>
                <a:latin typeface="Times New Roman"/>
                <a:ea typeface="Times New Roman"/>
                <a:cs typeface="Times New Roman"/>
                <a:sym typeface="Times New Roman"/>
              </a:rPr>
              <a:t>The Random Forest model demonstrates strong performance, achieving high accuracy (0.9) and a good R-squared value (0.5), while maintaining relatively low MSE, MAE, and RMSE.</a:t>
            </a:r>
            <a:br>
              <a:rPr lang="en-GB" sz="1500">
                <a:solidFill>
                  <a:schemeClr val="lt1"/>
                </a:solidFill>
                <a:latin typeface="Times New Roman"/>
                <a:ea typeface="Times New Roman"/>
                <a:cs typeface="Times New Roman"/>
                <a:sym typeface="Times New Roman"/>
              </a:rPr>
            </a:br>
            <a:endParaRPr sz="1500">
              <a:solidFill>
                <a:schemeClr val="lt1"/>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lt1"/>
              </a:buClr>
              <a:buSzPts val="1500"/>
              <a:buFont typeface="Times New Roman"/>
              <a:buChar char="➢"/>
            </a:pPr>
            <a:r>
              <a:rPr lang="en-GB" sz="1500">
                <a:solidFill>
                  <a:schemeClr val="lt1"/>
                </a:solidFill>
                <a:latin typeface="Times New Roman"/>
                <a:ea typeface="Times New Roman"/>
                <a:cs typeface="Times New Roman"/>
                <a:sym typeface="Times New Roman"/>
              </a:rPr>
              <a:t>This indicates that Random Forest effectively balances predictive accuracy with minimal error, making it a robust choice for diagnosing PCOS based on clinical features.</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30" name="Google Shape;230;p3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31" name="Google Shape;231;p33"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232" name="Google Shape;232;p33"/>
          <p:cNvSpPr txBox="1"/>
          <p:nvPr/>
        </p:nvSpPr>
        <p:spPr>
          <a:xfrm>
            <a:off x="112350" y="-227175"/>
            <a:ext cx="8399700" cy="181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336550" lvl="0" marL="457200" rtl="0" algn="just">
              <a:spcBef>
                <a:spcPts val="0"/>
              </a:spcBef>
              <a:spcAft>
                <a:spcPts val="0"/>
              </a:spcAft>
              <a:buClr>
                <a:schemeClr val="lt1"/>
              </a:buClr>
              <a:buSzPts val="1700"/>
              <a:buFont typeface="Times New Roman"/>
              <a:buChar char="●"/>
            </a:pPr>
            <a:r>
              <a:rPr b="1" lang="en-GB" sz="1700" u="sng">
                <a:solidFill>
                  <a:schemeClr val="lt1"/>
                </a:solidFill>
                <a:latin typeface="Times New Roman"/>
                <a:ea typeface="Times New Roman"/>
                <a:cs typeface="Times New Roman"/>
                <a:sym typeface="Times New Roman"/>
              </a:rPr>
              <a:t>Gradient Boosting</a:t>
            </a:r>
            <a:endParaRPr b="1" sz="17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A powerful iterative technique that enhanced performance by correcting errors from previous trees.</a:t>
            </a:r>
            <a:endParaRPr sz="17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i="1" sz="24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233" name="Google Shape;233;p33"/>
          <p:cNvPicPr preferRelativeResize="0"/>
          <p:nvPr/>
        </p:nvPicPr>
        <p:blipFill>
          <a:blip r:embed="rId4">
            <a:alphaModFix/>
          </a:blip>
          <a:stretch>
            <a:fillRect/>
          </a:stretch>
        </p:blipFill>
        <p:spPr>
          <a:xfrm>
            <a:off x="3374300" y="920700"/>
            <a:ext cx="5527549" cy="3895250"/>
          </a:xfrm>
          <a:prstGeom prst="rect">
            <a:avLst/>
          </a:prstGeom>
          <a:noFill/>
          <a:ln>
            <a:noFill/>
          </a:ln>
        </p:spPr>
      </p:pic>
      <p:sp>
        <p:nvSpPr>
          <p:cNvPr id="234" name="Google Shape;234;p33"/>
          <p:cNvSpPr txBox="1"/>
          <p:nvPr/>
        </p:nvSpPr>
        <p:spPr>
          <a:xfrm>
            <a:off x="-172650" y="1054150"/>
            <a:ext cx="3307800" cy="3374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800"/>
              </a:spcBef>
              <a:spcAft>
                <a:spcPts val="0"/>
              </a:spcAft>
              <a:buClr>
                <a:schemeClr val="lt1"/>
              </a:buClr>
              <a:buSzPts val="1400"/>
              <a:buChar char="➢"/>
            </a:pPr>
            <a:r>
              <a:rPr lang="en-GB">
                <a:solidFill>
                  <a:schemeClr val="lt1"/>
                </a:solidFill>
              </a:rPr>
              <a:t>The Gradient Boosting model demonstrates strong performance, achieving high accuracy (0.9) and a good R-squared value (0.5), while maintaining relatively low MSE, MAE, and RMSE.</a:t>
            </a:r>
            <a:endParaRPr>
              <a:solidFill>
                <a:schemeClr val="lt1"/>
              </a:solidFill>
            </a:endParaRPr>
          </a:p>
          <a:p>
            <a:pPr indent="-317500" lvl="0" marL="457200" rtl="0" algn="l">
              <a:lnSpc>
                <a:spcPct val="115000"/>
              </a:lnSpc>
              <a:spcBef>
                <a:spcPts val="0"/>
              </a:spcBef>
              <a:spcAft>
                <a:spcPts val="0"/>
              </a:spcAft>
              <a:buClr>
                <a:schemeClr val="lt1"/>
              </a:buClr>
              <a:buSzPts val="1400"/>
              <a:buChar char="➢"/>
            </a:pPr>
            <a:r>
              <a:rPr lang="en-GB">
                <a:solidFill>
                  <a:schemeClr val="lt1"/>
                </a:solidFill>
              </a:rPr>
              <a:t>This indicates that Gradient Boosting effectively balances predictive accuracy with minimal error, making it a robust choice for diagnosing PCOS based on clinical features.</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40" name="Google Shape;240;p3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41" name="Google Shape;241;p34" title="DPA_BG.jpg"/>
          <p:cNvPicPr preferRelativeResize="0"/>
          <p:nvPr/>
        </p:nvPicPr>
        <p:blipFill>
          <a:blip r:embed="rId3">
            <a:alphaModFix/>
          </a:blip>
          <a:stretch>
            <a:fillRect/>
          </a:stretch>
        </p:blipFill>
        <p:spPr>
          <a:xfrm>
            <a:off x="-519600" y="-241825"/>
            <a:ext cx="9663600" cy="5430776"/>
          </a:xfrm>
          <a:prstGeom prst="rect">
            <a:avLst/>
          </a:prstGeom>
          <a:noFill/>
          <a:ln>
            <a:noFill/>
          </a:ln>
        </p:spPr>
      </p:pic>
      <p:sp>
        <p:nvSpPr>
          <p:cNvPr id="242" name="Google Shape;242;p34"/>
          <p:cNvSpPr txBox="1"/>
          <p:nvPr/>
        </p:nvSpPr>
        <p:spPr>
          <a:xfrm>
            <a:off x="354350" y="-110274"/>
            <a:ext cx="83094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u="sng">
              <a:solidFill>
                <a:schemeClr val="lt2"/>
              </a:solidFill>
              <a:latin typeface="Times New Roman"/>
              <a:ea typeface="Times New Roman"/>
              <a:cs typeface="Times New Roman"/>
              <a:sym typeface="Times New Roman"/>
            </a:endParaRPr>
          </a:p>
          <a:p>
            <a:pPr indent="-342900" lvl="0" marL="457200" rtl="0" algn="just">
              <a:spcBef>
                <a:spcPts val="0"/>
              </a:spcBef>
              <a:spcAft>
                <a:spcPts val="0"/>
              </a:spcAft>
              <a:buClr>
                <a:schemeClr val="lt2"/>
              </a:buClr>
              <a:buSzPts val="1800"/>
              <a:buFont typeface="Times New Roman"/>
              <a:buChar char="●"/>
            </a:pPr>
            <a:r>
              <a:rPr b="1" lang="en-GB" sz="1800" u="sng">
                <a:solidFill>
                  <a:schemeClr val="lt2"/>
                </a:solidFill>
                <a:latin typeface="Times New Roman"/>
                <a:ea typeface="Times New Roman"/>
                <a:cs typeface="Times New Roman"/>
                <a:sym typeface="Times New Roman"/>
              </a:rPr>
              <a:t>LightGBM</a:t>
            </a:r>
            <a:endParaRPr b="1" sz="1800" u="sng">
              <a:solidFill>
                <a:schemeClr val="lt2"/>
              </a:solidFill>
              <a:latin typeface="Times New Roman"/>
              <a:ea typeface="Times New Roman"/>
              <a:cs typeface="Times New Roman"/>
              <a:sym typeface="Times New Roman"/>
            </a:endParaRPr>
          </a:p>
          <a:p>
            <a:pPr indent="0" lvl="0" marL="0" rtl="0" algn="just">
              <a:spcBef>
                <a:spcPts val="0"/>
              </a:spcBef>
              <a:spcAft>
                <a:spcPts val="0"/>
              </a:spcAft>
              <a:buNone/>
            </a:pPr>
            <a:r>
              <a:rPr lang="en-GB" sz="1800">
                <a:solidFill>
                  <a:schemeClr val="lt2"/>
                </a:solidFill>
                <a:latin typeface="Times New Roman"/>
                <a:ea typeface="Times New Roman"/>
                <a:cs typeface="Times New Roman"/>
                <a:sym typeface="Times New Roman"/>
              </a:rPr>
              <a:t>A fast and efficient gradient boosting framework that delivered high accuracy with optimized training speed.</a:t>
            </a:r>
            <a:endParaRPr>
              <a:solidFill>
                <a:schemeClr val="dk1"/>
              </a:solidFill>
            </a:endParaRPr>
          </a:p>
        </p:txBody>
      </p:sp>
      <p:pic>
        <p:nvPicPr>
          <p:cNvPr id="243" name="Google Shape;243;p34"/>
          <p:cNvPicPr preferRelativeResize="0"/>
          <p:nvPr/>
        </p:nvPicPr>
        <p:blipFill>
          <a:blip r:embed="rId4">
            <a:alphaModFix/>
          </a:blip>
          <a:stretch>
            <a:fillRect/>
          </a:stretch>
        </p:blipFill>
        <p:spPr>
          <a:xfrm>
            <a:off x="150075" y="1227600"/>
            <a:ext cx="5248176" cy="3533250"/>
          </a:xfrm>
          <a:prstGeom prst="rect">
            <a:avLst/>
          </a:prstGeom>
          <a:noFill/>
          <a:ln>
            <a:noFill/>
          </a:ln>
        </p:spPr>
      </p:pic>
      <p:sp>
        <p:nvSpPr>
          <p:cNvPr id="244" name="Google Shape;244;p34"/>
          <p:cNvSpPr txBox="1"/>
          <p:nvPr/>
        </p:nvSpPr>
        <p:spPr>
          <a:xfrm>
            <a:off x="5469075" y="1272250"/>
            <a:ext cx="3363300" cy="2878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800"/>
              </a:spcBef>
              <a:spcAft>
                <a:spcPts val="0"/>
              </a:spcAft>
              <a:buClr>
                <a:schemeClr val="lt1"/>
              </a:buClr>
              <a:buSzPts val="1400"/>
              <a:buFont typeface="Times New Roman"/>
              <a:buChar char="➢"/>
            </a:pPr>
            <a:r>
              <a:rPr lang="en-GB">
                <a:solidFill>
                  <a:schemeClr val="lt1"/>
                </a:solidFill>
                <a:latin typeface="Times New Roman"/>
                <a:ea typeface="Times New Roman"/>
                <a:cs typeface="Times New Roman"/>
                <a:sym typeface="Times New Roman"/>
              </a:rPr>
              <a:t>The LGBM model demonstrates strong performance with high accuracy (0.9) and a good R-squared value (0.5), while maintaining low MSE, MAE, and RMSE.</a:t>
            </a:r>
            <a:br>
              <a:rPr lang="en-GB">
                <a:solidFill>
                  <a:schemeClr val="lt1"/>
                </a:solidFill>
                <a:latin typeface="Times New Roman"/>
                <a:ea typeface="Times New Roman"/>
                <a:cs typeface="Times New Roman"/>
                <a:sym typeface="Times New Roman"/>
              </a:rPr>
            </a:br>
            <a:endParaRPr>
              <a:solidFill>
                <a:schemeClr val="lt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lt1"/>
              </a:buClr>
              <a:buSzPts val="1400"/>
              <a:buFont typeface="Times New Roman"/>
              <a:buChar char="➢"/>
            </a:pPr>
            <a:r>
              <a:rPr lang="en-GB">
                <a:solidFill>
                  <a:schemeClr val="lt1"/>
                </a:solidFill>
                <a:latin typeface="Times New Roman"/>
                <a:ea typeface="Times New Roman"/>
                <a:cs typeface="Times New Roman"/>
                <a:sym typeface="Times New Roman"/>
              </a:rPr>
              <a:t>This indicates that LightGBM effectively balances predictive accuracy with minimal error, making it a robust choice for diagnosing PCOS based on clinical features.</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50" name="Google Shape;250;p3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51" name="Google Shape;251;p35" title="DPA_BG.jpg"/>
          <p:cNvPicPr preferRelativeResize="0"/>
          <p:nvPr/>
        </p:nvPicPr>
        <p:blipFill>
          <a:blip r:embed="rId3">
            <a:alphaModFix/>
          </a:blip>
          <a:stretch>
            <a:fillRect/>
          </a:stretch>
        </p:blipFill>
        <p:spPr>
          <a:xfrm>
            <a:off x="-466675" y="-287275"/>
            <a:ext cx="9663600" cy="5430776"/>
          </a:xfrm>
          <a:prstGeom prst="rect">
            <a:avLst/>
          </a:prstGeom>
          <a:noFill/>
          <a:ln>
            <a:noFill/>
          </a:ln>
        </p:spPr>
      </p:pic>
      <p:sp>
        <p:nvSpPr>
          <p:cNvPr id="252" name="Google Shape;252;p35"/>
          <p:cNvSpPr txBox="1"/>
          <p:nvPr/>
        </p:nvSpPr>
        <p:spPr>
          <a:xfrm>
            <a:off x="417300" y="-199925"/>
            <a:ext cx="8309400" cy="1293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800">
              <a:solidFill>
                <a:schemeClr val="lt2"/>
              </a:solidFill>
              <a:latin typeface="Times New Roman"/>
              <a:ea typeface="Times New Roman"/>
              <a:cs typeface="Times New Roman"/>
              <a:sym typeface="Times New Roman"/>
            </a:endParaRPr>
          </a:p>
          <a:p>
            <a:pPr indent="-342900" lvl="0" marL="457200" rtl="0" algn="just">
              <a:spcBef>
                <a:spcPts val="0"/>
              </a:spcBef>
              <a:spcAft>
                <a:spcPts val="0"/>
              </a:spcAft>
              <a:buClr>
                <a:schemeClr val="lt2"/>
              </a:buClr>
              <a:buSzPts val="1800"/>
              <a:buFont typeface="Times New Roman"/>
              <a:buChar char="●"/>
            </a:pPr>
            <a:r>
              <a:rPr b="1" lang="en-GB" sz="1800" u="sng">
                <a:solidFill>
                  <a:schemeClr val="lt2"/>
                </a:solidFill>
                <a:latin typeface="Times New Roman"/>
                <a:ea typeface="Times New Roman"/>
                <a:cs typeface="Times New Roman"/>
                <a:sym typeface="Times New Roman"/>
              </a:rPr>
              <a:t>KNN (K-Nearest Neighbors)</a:t>
            </a:r>
            <a:endParaRPr b="1" sz="1800" u="sng">
              <a:solidFill>
                <a:schemeClr val="lt2"/>
              </a:solidFill>
              <a:latin typeface="Times New Roman"/>
              <a:ea typeface="Times New Roman"/>
              <a:cs typeface="Times New Roman"/>
              <a:sym typeface="Times New Roman"/>
            </a:endParaRPr>
          </a:p>
          <a:p>
            <a:pPr indent="0" lvl="0" marL="0" rtl="0" algn="just">
              <a:spcBef>
                <a:spcPts val="0"/>
              </a:spcBef>
              <a:spcAft>
                <a:spcPts val="0"/>
              </a:spcAft>
              <a:buNone/>
            </a:pPr>
            <a:r>
              <a:rPr lang="en-GB" sz="1800">
                <a:solidFill>
                  <a:schemeClr val="lt2"/>
                </a:solidFill>
                <a:latin typeface="Times New Roman"/>
                <a:ea typeface="Times New Roman"/>
                <a:cs typeface="Times New Roman"/>
                <a:sym typeface="Times New Roman"/>
              </a:rPr>
              <a:t>A distance-based classifier that performed moderately but was computationally expensive for large datasets.</a:t>
            </a:r>
            <a:endParaRPr>
              <a:solidFill>
                <a:schemeClr val="dk1"/>
              </a:solidFill>
            </a:endParaRPr>
          </a:p>
        </p:txBody>
      </p:sp>
      <p:pic>
        <p:nvPicPr>
          <p:cNvPr id="253" name="Google Shape;253;p35"/>
          <p:cNvPicPr preferRelativeResize="0"/>
          <p:nvPr/>
        </p:nvPicPr>
        <p:blipFill rotWithShape="1">
          <a:blip r:embed="rId4">
            <a:alphaModFix/>
          </a:blip>
          <a:srcRect b="-2997" l="3072" r="0" t="5369"/>
          <a:stretch/>
        </p:blipFill>
        <p:spPr>
          <a:xfrm>
            <a:off x="3696675" y="1132425"/>
            <a:ext cx="5078249" cy="3565026"/>
          </a:xfrm>
          <a:prstGeom prst="rect">
            <a:avLst/>
          </a:prstGeom>
          <a:noFill/>
          <a:ln>
            <a:noFill/>
          </a:ln>
        </p:spPr>
      </p:pic>
      <p:sp>
        <p:nvSpPr>
          <p:cNvPr id="254" name="Google Shape;254;p35"/>
          <p:cNvSpPr txBox="1"/>
          <p:nvPr/>
        </p:nvSpPr>
        <p:spPr>
          <a:xfrm>
            <a:off x="-99950" y="1290425"/>
            <a:ext cx="3367500" cy="3126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800"/>
              </a:spcBef>
              <a:spcAft>
                <a:spcPts val="0"/>
              </a:spcAft>
              <a:buClr>
                <a:schemeClr val="lt1"/>
              </a:buClr>
              <a:buSzPts val="1400"/>
              <a:buChar char="➢"/>
            </a:pPr>
            <a:r>
              <a:rPr lang="en-GB">
                <a:solidFill>
                  <a:schemeClr val="lt1"/>
                </a:solidFill>
              </a:rPr>
              <a:t>The K-Nearest Neighbors (KNN) model shows moderate performance with MSE and MAE values around 0.3, while achieving high accuracy (~0.7).</a:t>
            </a:r>
            <a:br>
              <a:rPr lang="en-GB">
                <a:solidFill>
                  <a:schemeClr val="lt1"/>
                </a:solidFill>
              </a:rPr>
            </a:br>
            <a:endParaRPr>
              <a:solidFill>
                <a:schemeClr val="lt1"/>
              </a:solidFill>
            </a:endParaRPr>
          </a:p>
          <a:p>
            <a:pPr indent="-317500" lvl="0" marL="457200" rtl="0" algn="l">
              <a:lnSpc>
                <a:spcPct val="115000"/>
              </a:lnSpc>
              <a:spcBef>
                <a:spcPts val="0"/>
              </a:spcBef>
              <a:spcAft>
                <a:spcPts val="0"/>
              </a:spcAft>
              <a:buClr>
                <a:schemeClr val="lt1"/>
              </a:buClr>
              <a:buSzPts val="1400"/>
              <a:buChar char="➢"/>
            </a:pPr>
            <a:r>
              <a:rPr lang="en-GB">
                <a:solidFill>
                  <a:schemeClr val="lt1"/>
                </a:solidFill>
              </a:rPr>
              <a:t>However, the R-squared value is negative (-0.4), indicating that the model may not explain the variance in the data well, suggesting potential overfitting or poor fit for this dataset.</a:t>
            </a: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60" name="Google Shape;260;p3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61" name="Google Shape;261;p36"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262" name="Google Shape;262;p36"/>
          <p:cNvSpPr txBox="1"/>
          <p:nvPr/>
        </p:nvSpPr>
        <p:spPr>
          <a:xfrm>
            <a:off x="417300" y="-72700"/>
            <a:ext cx="8309400" cy="1293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800">
              <a:solidFill>
                <a:schemeClr val="lt2"/>
              </a:solidFill>
              <a:latin typeface="Times New Roman"/>
              <a:ea typeface="Times New Roman"/>
              <a:cs typeface="Times New Roman"/>
              <a:sym typeface="Times New Roman"/>
            </a:endParaRPr>
          </a:p>
          <a:p>
            <a:pPr indent="-342900" lvl="0" marL="457200" rtl="0" algn="just">
              <a:spcBef>
                <a:spcPts val="0"/>
              </a:spcBef>
              <a:spcAft>
                <a:spcPts val="0"/>
              </a:spcAft>
              <a:buClr>
                <a:schemeClr val="lt2"/>
              </a:buClr>
              <a:buSzPts val="1800"/>
              <a:buFont typeface="Times New Roman"/>
              <a:buChar char="●"/>
            </a:pPr>
            <a:r>
              <a:rPr b="1" lang="en-GB" sz="1800" u="sng">
                <a:solidFill>
                  <a:schemeClr val="lt2"/>
                </a:solidFill>
                <a:latin typeface="Times New Roman"/>
                <a:ea typeface="Times New Roman"/>
                <a:cs typeface="Times New Roman"/>
                <a:sym typeface="Times New Roman"/>
              </a:rPr>
              <a:t>Voting Classifier</a:t>
            </a:r>
            <a:endParaRPr b="1" sz="1800" u="sng">
              <a:solidFill>
                <a:schemeClr val="lt2"/>
              </a:solidFill>
              <a:latin typeface="Times New Roman"/>
              <a:ea typeface="Times New Roman"/>
              <a:cs typeface="Times New Roman"/>
              <a:sym typeface="Times New Roman"/>
            </a:endParaRPr>
          </a:p>
          <a:p>
            <a:pPr indent="0" lvl="0" marL="0" rtl="0" algn="just">
              <a:spcBef>
                <a:spcPts val="0"/>
              </a:spcBef>
              <a:spcAft>
                <a:spcPts val="0"/>
              </a:spcAft>
              <a:buNone/>
            </a:pPr>
            <a:r>
              <a:rPr lang="en-GB" sz="1800">
                <a:solidFill>
                  <a:schemeClr val="lt2"/>
                </a:solidFill>
                <a:latin typeface="Times New Roman"/>
                <a:ea typeface="Times New Roman"/>
                <a:cs typeface="Times New Roman"/>
                <a:sym typeface="Times New Roman"/>
              </a:rPr>
              <a:t>Combined predictions from multiple models to improve generalization, though it underperformed compared to individual models.</a:t>
            </a:r>
            <a:endParaRPr>
              <a:solidFill>
                <a:schemeClr val="dk1"/>
              </a:solidFill>
            </a:endParaRPr>
          </a:p>
        </p:txBody>
      </p:sp>
      <p:pic>
        <p:nvPicPr>
          <p:cNvPr id="263" name="Google Shape;263;p36"/>
          <p:cNvPicPr preferRelativeResize="0"/>
          <p:nvPr/>
        </p:nvPicPr>
        <p:blipFill>
          <a:blip r:embed="rId4">
            <a:alphaModFix/>
          </a:blip>
          <a:stretch>
            <a:fillRect/>
          </a:stretch>
        </p:blipFill>
        <p:spPr>
          <a:xfrm>
            <a:off x="100625" y="1282675"/>
            <a:ext cx="5698949" cy="3549000"/>
          </a:xfrm>
          <a:prstGeom prst="rect">
            <a:avLst/>
          </a:prstGeom>
          <a:noFill/>
          <a:ln>
            <a:noFill/>
          </a:ln>
        </p:spPr>
      </p:pic>
      <p:sp>
        <p:nvSpPr>
          <p:cNvPr id="264" name="Google Shape;264;p36"/>
          <p:cNvSpPr txBox="1"/>
          <p:nvPr/>
        </p:nvSpPr>
        <p:spPr>
          <a:xfrm>
            <a:off x="5832300" y="1365000"/>
            <a:ext cx="3155100" cy="3374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800"/>
              </a:spcBef>
              <a:spcAft>
                <a:spcPts val="0"/>
              </a:spcAft>
              <a:buClr>
                <a:schemeClr val="lt1"/>
              </a:buClr>
              <a:buSzPts val="1400"/>
              <a:buChar char="➢"/>
            </a:pPr>
            <a:r>
              <a:rPr lang="en-GB">
                <a:solidFill>
                  <a:schemeClr val="lt1"/>
                </a:solidFill>
              </a:rPr>
              <a:t>The Voting Classifier achieves high accuracy (0.65) but has a negative R-Squared value (-0.3), indicating poor model fit for regression tasks.</a:t>
            </a:r>
            <a:br>
              <a:rPr lang="en-GB">
                <a:solidFill>
                  <a:schemeClr val="lt1"/>
                </a:solidFill>
              </a:rPr>
            </a:br>
            <a:endParaRPr>
              <a:solidFill>
                <a:schemeClr val="lt1"/>
              </a:solidFill>
            </a:endParaRPr>
          </a:p>
          <a:p>
            <a:pPr indent="-317500" lvl="0" marL="457200" rtl="0" algn="l">
              <a:lnSpc>
                <a:spcPct val="115000"/>
              </a:lnSpc>
              <a:spcBef>
                <a:spcPts val="0"/>
              </a:spcBef>
              <a:spcAft>
                <a:spcPts val="0"/>
              </a:spcAft>
              <a:buClr>
                <a:schemeClr val="lt1"/>
              </a:buClr>
              <a:buSzPts val="1400"/>
              <a:buChar char="➢"/>
            </a:pPr>
            <a:r>
              <a:rPr lang="en-GB">
                <a:solidFill>
                  <a:schemeClr val="lt1"/>
                </a:solidFill>
              </a:rPr>
              <a:t>While MSE and MAE show moderate performance, RMSE is relatively</a:t>
            </a:r>
            <a:r>
              <a:rPr lang="en-GB">
                <a:solidFill>
                  <a:schemeClr val="lt1"/>
                </a:solidFill>
              </a:rPr>
              <a:t> high, suggesting that the Voting Classifier may not be well-suited for predicting continuous outcomes in this context.</a:t>
            </a:r>
            <a:endParaRPr>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70" name="Google Shape;270;p3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71" name="Google Shape;271;p37"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pic>
        <p:nvPicPr>
          <p:cNvPr id="272" name="Google Shape;272;p37" title="Screenshot 2025-04-29 at 7.57.09 PM.png"/>
          <p:cNvPicPr preferRelativeResize="0"/>
          <p:nvPr/>
        </p:nvPicPr>
        <p:blipFill>
          <a:blip r:embed="rId4">
            <a:alphaModFix/>
          </a:blip>
          <a:stretch>
            <a:fillRect/>
          </a:stretch>
        </p:blipFill>
        <p:spPr>
          <a:xfrm>
            <a:off x="419038" y="954175"/>
            <a:ext cx="8305925" cy="3425975"/>
          </a:xfrm>
          <a:prstGeom prst="rect">
            <a:avLst/>
          </a:prstGeom>
          <a:noFill/>
          <a:ln>
            <a:noFill/>
          </a:ln>
        </p:spPr>
      </p:pic>
      <p:sp>
        <p:nvSpPr>
          <p:cNvPr id="273" name="Google Shape;273;p37"/>
          <p:cNvSpPr txBox="1"/>
          <p:nvPr/>
        </p:nvSpPr>
        <p:spPr>
          <a:xfrm>
            <a:off x="-81775" y="172650"/>
            <a:ext cx="5234400" cy="461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b="1" i="1" lang="en-GB" sz="1800" u="sng">
                <a:solidFill>
                  <a:schemeClr val="lt1"/>
                </a:solidFill>
                <a:latin typeface="Times New Roman"/>
                <a:ea typeface="Times New Roman"/>
                <a:cs typeface="Times New Roman"/>
                <a:sym typeface="Times New Roman"/>
              </a:rPr>
              <a:t>Evaluation Metrics</a:t>
            </a:r>
            <a:endParaRPr b="1" i="1" sz="1800" u="sng">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79" name="Google Shape;279;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80" name="Google Shape;280;p38"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pic>
        <p:nvPicPr>
          <p:cNvPr id="281" name="Google Shape;281;p38" title="Screenshot 2025-04-29 at 7.58.52 PM.png"/>
          <p:cNvPicPr preferRelativeResize="0"/>
          <p:nvPr/>
        </p:nvPicPr>
        <p:blipFill rotWithShape="1">
          <a:blip r:embed="rId4">
            <a:alphaModFix/>
          </a:blip>
          <a:srcRect b="1830" l="-550" r="549" t="-1830"/>
          <a:stretch/>
        </p:blipFill>
        <p:spPr>
          <a:xfrm>
            <a:off x="110150" y="1038525"/>
            <a:ext cx="8605824" cy="3444150"/>
          </a:xfrm>
          <a:prstGeom prst="rect">
            <a:avLst/>
          </a:prstGeom>
          <a:noFill/>
          <a:ln>
            <a:noFill/>
          </a:ln>
        </p:spPr>
      </p:pic>
      <p:sp>
        <p:nvSpPr>
          <p:cNvPr id="282" name="Google Shape;282;p38"/>
          <p:cNvSpPr txBox="1"/>
          <p:nvPr/>
        </p:nvSpPr>
        <p:spPr>
          <a:xfrm>
            <a:off x="-154475" y="145375"/>
            <a:ext cx="5234400" cy="461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b="1" i="1" lang="en-GB" sz="1800" u="sng">
                <a:solidFill>
                  <a:schemeClr val="lt1"/>
                </a:solidFill>
                <a:latin typeface="Times New Roman"/>
                <a:ea typeface="Times New Roman"/>
                <a:cs typeface="Times New Roman"/>
                <a:sym typeface="Times New Roman"/>
              </a:rPr>
              <a:t>Model Performance Comparison Table</a:t>
            </a:r>
            <a:endParaRPr b="1" i="1" sz="1800" u="sng">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88" name="Google Shape;288;p3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89" name="Google Shape;289;p39"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290" name="Google Shape;290;p39"/>
          <p:cNvSpPr txBox="1"/>
          <p:nvPr/>
        </p:nvSpPr>
        <p:spPr>
          <a:xfrm>
            <a:off x="228225" y="0"/>
            <a:ext cx="8520600" cy="4663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GB" sz="1900" u="sng">
                <a:solidFill>
                  <a:schemeClr val="lt1"/>
                </a:solidFill>
                <a:latin typeface="Times New Roman"/>
                <a:ea typeface="Times New Roman"/>
                <a:cs typeface="Times New Roman"/>
                <a:sym typeface="Times New Roman"/>
              </a:rPr>
              <a:t>Best Performing Model – RFLR</a:t>
            </a:r>
            <a:endParaRPr b="1" i="1" sz="19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b="1" i="1" sz="17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1. </a:t>
            </a:r>
            <a:r>
              <a:rPr b="1" i="1" lang="en-GB" sz="1700">
                <a:solidFill>
                  <a:schemeClr val="lt1"/>
                </a:solidFill>
                <a:latin typeface="Times New Roman"/>
                <a:ea typeface="Times New Roman"/>
                <a:cs typeface="Times New Roman"/>
                <a:sym typeface="Times New Roman"/>
              </a:rPr>
              <a:t>Combines the strength of Random Forest (feature importance) and Logistic Regression (interpretability)</a:t>
            </a:r>
            <a:endParaRPr b="1" i="1"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The hybrid RFLR model leverages the predictive power of Random Forest through its ability to capture complex patterns and rank features effectively, while incorporating the transparency and interpretability of Logistic Regression , making it suitable for medical decision-making.</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2. </a:t>
            </a:r>
            <a:r>
              <a:rPr b="1" i="1" lang="en-GB" sz="1700">
                <a:solidFill>
                  <a:schemeClr val="lt1"/>
                </a:solidFill>
                <a:latin typeface="Times New Roman"/>
                <a:ea typeface="Times New Roman"/>
                <a:cs typeface="Times New Roman"/>
                <a:sym typeface="Times New Roman"/>
              </a:rPr>
              <a:t>Achieved best balance in accuracy and recall</a:t>
            </a:r>
            <a:endParaRPr b="1" i="1"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With an impressive testing accuracy of 91.01% and a recall rate of 90% , the RFLR model strikes the optimal balance between correctly identifying PCOS-positive cases and minimizing false negatives, which is critical in healthcare diagnostics.</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3.</a:t>
            </a:r>
            <a:r>
              <a:rPr b="1" i="1" lang="en-GB" sz="1700">
                <a:solidFill>
                  <a:schemeClr val="lt1"/>
                </a:solidFill>
                <a:latin typeface="Times New Roman"/>
                <a:ea typeface="Times New Roman"/>
                <a:cs typeface="Times New Roman"/>
                <a:sym typeface="Times New Roman"/>
              </a:rPr>
              <a:t> Suitable for clinical decision-making</a:t>
            </a:r>
            <a:endParaRPr b="1" i="1"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700">
                <a:solidFill>
                  <a:schemeClr val="lt1"/>
                </a:solidFill>
                <a:latin typeface="Times New Roman"/>
                <a:ea typeface="Times New Roman"/>
                <a:cs typeface="Times New Roman"/>
                <a:sym typeface="Times New Roman"/>
              </a:rPr>
              <a:t>Due to its high accuracy , strong recall , and model interpretability , RFLR is well-suited for integration into real-world clinical environments, where both performance and trust in predictions are essential for diagnosis and treatment planning.</a:t>
            </a:r>
            <a:endParaRPr sz="17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96" name="Google Shape;296;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97" name="Google Shape;297;p40"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298" name="Google Shape;298;p40"/>
          <p:cNvSpPr txBox="1"/>
          <p:nvPr/>
        </p:nvSpPr>
        <p:spPr>
          <a:xfrm>
            <a:off x="-42850" y="0"/>
            <a:ext cx="8649600" cy="4679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GB" sz="1900" u="sng">
                <a:solidFill>
                  <a:srgbClr val="FFFFFF"/>
                </a:solidFill>
                <a:latin typeface="Times New Roman"/>
                <a:ea typeface="Times New Roman"/>
                <a:cs typeface="Times New Roman"/>
                <a:sym typeface="Times New Roman"/>
              </a:rPr>
              <a:t>Feature Reduction Impact</a:t>
            </a:r>
            <a:endParaRPr b="1" i="1" sz="1900" u="sng">
              <a:solidFill>
                <a:srgbClr val="FFFFF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rgbClr val="FFFFFF"/>
              </a:solidFill>
              <a:latin typeface="Times New Roman"/>
              <a:ea typeface="Times New Roman"/>
              <a:cs typeface="Times New Roman"/>
              <a:sym typeface="Times New Roman"/>
            </a:endParaRPr>
          </a:p>
          <a:p>
            <a:pPr indent="-323850" lvl="0" marL="457200" rtl="0" algn="just">
              <a:spcBef>
                <a:spcPts val="0"/>
              </a:spcBef>
              <a:spcAft>
                <a:spcPts val="0"/>
              </a:spcAft>
              <a:buClr>
                <a:srgbClr val="FFFFFF"/>
              </a:buClr>
              <a:buSzPts val="1500"/>
              <a:buFont typeface="Times New Roman"/>
              <a:buAutoNum type="arabicPeriod"/>
            </a:pPr>
            <a:r>
              <a:rPr b="1" lang="en-GB" sz="1500">
                <a:solidFill>
                  <a:srgbClr val="FFFFFF"/>
                </a:solidFill>
                <a:latin typeface="Times New Roman"/>
                <a:ea typeface="Times New Roman"/>
                <a:cs typeface="Times New Roman"/>
                <a:sym typeface="Times New Roman"/>
              </a:rPr>
              <a:t>Accuracy comparison: All 43 features vs Top 10</a:t>
            </a:r>
            <a:endParaRPr b="1" sz="1500">
              <a:solidFill>
                <a:srgbClr val="FFFFFF"/>
              </a:solidFill>
              <a:latin typeface="Times New Roman"/>
              <a:ea typeface="Times New Roman"/>
              <a:cs typeface="Times New Roman"/>
              <a:sym typeface="Times New Roman"/>
            </a:endParaRPr>
          </a:p>
          <a:p>
            <a:pPr indent="0" lvl="0" marL="457200" rtl="0" algn="just">
              <a:spcBef>
                <a:spcPts val="0"/>
              </a:spcBef>
              <a:spcAft>
                <a:spcPts val="0"/>
              </a:spcAft>
              <a:buNone/>
            </a:pPr>
            <a:r>
              <a:rPr lang="en-GB" sz="1500">
                <a:solidFill>
                  <a:srgbClr val="FFFFFF"/>
                </a:solidFill>
                <a:latin typeface="Times New Roman"/>
                <a:ea typeface="Times New Roman"/>
                <a:cs typeface="Times New Roman"/>
                <a:sym typeface="Times New Roman"/>
              </a:rPr>
              <a:t>When comparing model performance using all 43 original features versus the top 10 most predictive features, only a minimal drop in accuracy was observed, demonstrating that the reduced feature set retains strong diagnostic power.</a:t>
            </a:r>
            <a:endParaRPr sz="1500">
              <a:solidFill>
                <a:srgbClr val="FFFFF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500">
              <a:solidFill>
                <a:srgbClr val="FFFFFF"/>
              </a:solidFill>
              <a:latin typeface="Times New Roman"/>
              <a:ea typeface="Times New Roman"/>
              <a:cs typeface="Times New Roman"/>
              <a:sym typeface="Times New Roman"/>
            </a:endParaRPr>
          </a:p>
          <a:p>
            <a:pPr indent="-323850" lvl="0" marL="457200" rtl="0" algn="just">
              <a:spcBef>
                <a:spcPts val="0"/>
              </a:spcBef>
              <a:spcAft>
                <a:spcPts val="0"/>
              </a:spcAft>
              <a:buClr>
                <a:srgbClr val="FFFFFF"/>
              </a:buClr>
              <a:buSzPts val="1500"/>
              <a:buFont typeface="Times New Roman"/>
              <a:buAutoNum type="arabicPeriod"/>
            </a:pPr>
            <a:r>
              <a:rPr b="1" lang="en-GB" sz="1500">
                <a:solidFill>
                  <a:srgbClr val="FFFFFF"/>
                </a:solidFill>
                <a:latin typeface="Times New Roman"/>
                <a:ea typeface="Times New Roman"/>
                <a:cs typeface="Times New Roman"/>
                <a:sym typeface="Times New Roman"/>
              </a:rPr>
              <a:t>Efficiency improvement without major loss in accuracy</a:t>
            </a:r>
            <a:endParaRPr b="1" sz="1500">
              <a:solidFill>
                <a:srgbClr val="FFFFFF"/>
              </a:solidFill>
              <a:latin typeface="Times New Roman"/>
              <a:ea typeface="Times New Roman"/>
              <a:cs typeface="Times New Roman"/>
              <a:sym typeface="Times New Roman"/>
            </a:endParaRPr>
          </a:p>
          <a:p>
            <a:pPr indent="0" lvl="0" marL="457200" rtl="0" algn="just">
              <a:spcBef>
                <a:spcPts val="0"/>
              </a:spcBef>
              <a:spcAft>
                <a:spcPts val="0"/>
              </a:spcAft>
              <a:buNone/>
            </a:pPr>
            <a:r>
              <a:rPr lang="en-GB" sz="1500">
                <a:solidFill>
                  <a:srgbClr val="FFFFFF"/>
                </a:solidFill>
                <a:latin typeface="Times New Roman"/>
                <a:ea typeface="Times New Roman"/>
                <a:cs typeface="Times New Roman"/>
                <a:sym typeface="Times New Roman"/>
              </a:rPr>
              <a:t>By reducing the number of features from 43 to 10, computational efficiency significantly improved with little compromise in model performance, making the diagnostic process faster and more scalable for clinical use.</a:t>
            </a:r>
            <a:endParaRPr sz="1500">
              <a:solidFill>
                <a:srgbClr val="FFFFF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rgbClr val="FFFFFF"/>
              </a:solidFill>
              <a:latin typeface="Times New Roman"/>
              <a:ea typeface="Times New Roman"/>
              <a:cs typeface="Times New Roman"/>
              <a:sym typeface="Times New Roman"/>
            </a:endParaRPr>
          </a:p>
          <a:p>
            <a:pPr indent="0" lvl="0" marL="0" rtl="0" algn="just">
              <a:spcBef>
                <a:spcPts val="0"/>
              </a:spcBef>
              <a:spcAft>
                <a:spcPts val="0"/>
              </a:spcAft>
              <a:buNone/>
            </a:pPr>
            <a:r>
              <a:rPr b="1" i="1" lang="en-GB" sz="1700" u="sng">
                <a:solidFill>
                  <a:srgbClr val="FFFFFF"/>
                </a:solidFill>
                <a:latin typeface="Times New Roman"/>
                <a:ea typeface="Times New Roman"/>
                <a:cs typeface="Times New Roman"/>
                <a:sym typeface="Times New Roman"/>
              </a:rPr>
              <a:t>Benefits: </a:t>
            </a:r>
            <a:endParaRPr b="1" i="1" sz="1700" u="sng">
              <a:solidFill>
                <a:srgbClr val="FFFFF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rgbClr val="FFFFFF"/>
              </a:solidFill>
              <a:latin typeface="Times New Roman"/>
              <a:ea typeface="Times New Roman"/>
              <a:cs typeface="Times New Roman"/>
              <a:sym typeface="Times New Roman"/>
            </a:endParaRPr>
          </a:p>
          <a:p>
            <a:pPr indent="-323850" lvl="0" marL="457200" rtl="0" algn="just">
              <a:spcBef>
                <a:spcPts val="0"/>
              </a:spcBef>
              <a:spcAft>
                <a:spcPts val="0"/>
              </a:spcAft>
              <a:buClr>
                <a:srgbClr val="FFFFFF"/>
              </a:buClr>
              <a:buSzPts val="1500"/>
              <a:buFont typeface="Times New Roman"/>
              <a:buChar char="●"/>
            </a:pPr>
            <a:r>
              <a:rPr lang="en-GB" sz="1500">
                <a:solidFill>
                  <a:srgbClr val="FFFFFF"/>
                </a:solidFill>
                <a:latin typeface="Times New Roman"/>
                <a:ea typeface="Times New Roman"/>
                <a:cs typeface="Times New Roman"/>
                <a:sym typeface="Times New Roman"/>
              </a:rPr>
              <a:t>Faster training and inference times</a:t>
            </a:r>
            <a:endParaRPr sz="1500">
              <a:solidFill>
                <a:srgbClr val="FFFFFF"/>
              </a:solidFill>
              <a:latin typeface="Times New Roman"/>
              <a:ea typeface="Times New Roman"/>
              <a:cs typeface="Times New Roman"/>
              <a:sym typeface="Times New Roman"/>
            </a:endParaRPr>
          </a:p>
          <a:p>
            <a:pPr indent="-323850" lvl="0" marL="457200" rtl="0" algn="just">
              <a:spcBef>
                <a:spcPts val="0"/>
              </a:spcBef>
              <a:spcAft>
                <a:spcPts val="0"/>
              </a:spcAft>
              <a:buClr>
                <a:srgbClr val="FFFFFF"/>
              </a:buClr>
              <a:buSzPts val="1500"/>
              <a:buFont typeface="Times New Roman"/>
              <a:buChar char="●"/>
            </a:pPr>
            <a:r>
              <a:rPr lang="en-GB" sz="1500">
                <a:solidFill>
                  <a:srgbClr val="FFFFFF"/>
                </a:solidFill>
                <a:latin typeface="Times New Roman"/>
                <a:ea typeface="Times New Roman"/>
                <a:cs typeface="Times New Roman"/>
                <a:sym typeface="Times New Roman"/>
              </a:rPr>
              <a:t>Less memory usage</a:t>
            </a:r>
            <a:endParaRPr sz="1500">
              <a:solidFill>
                <a:srgbClr val="FFFFFF"/>
              </a:solidFill>
              <a:latin typeface="Times New Roman"/>
              <a:ea typeface="Times New Roman"/>
              <a:cs typeface="Times New Roman"/>
              <a:sym typeface="Times New Roman"/>
            </a:endParaRPr>
          </a:p>
          <a:p>
            <a:pPr indent="-323850" lvl="0" marL="457200" rtl="0" algn="just">
              <a:spcBef>
                <a:spcPts val="0"/>
              </a:spcBef>
              <a:spcAft>
                <a:spcPts val="0"/>
              </a:spcAft>
              <a:buClr>
                <a:srgbClr val="FFFFFF"/>
              </a:buClr>
              <a:buSzPts val="1500"/>
              <a:buFont typeface="Times New Roman"/>
              <a:buChar char="●"/>
            </a:pPr>
            <a:r>
              <a:rPr lang="en-GB" sz="1500">
                <a:solidFill>
                  <a:srgbClr val="FFFFFF"/>
                </a:solidFill>
                <a:latin typeface="Times New Roman"/>
                <a:ea typeface="Times New Roman"/>
                <a:cs typeface="Times New Roman"/>
                <a:sym typeface="Times New Roman"/>
              </a:rPr>
              <a:t>Improved generalization by removing noise and redundancy</a:t>
            </a:r>
            <a:endParaRPr sz="1500">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Char char="●"/>
            </a:pPr>
            <a:r>
              <a:rPr lang="en-GB" sz="1500">
                <a:solidFill>
                  <a:srgbClr val="FFFFFF"/>
                </a:solidFill>
                <a:latin typeface="Times New Roman"/>
                <a:ea typeface="Times New Roman"/>
                <a:cs typeface="Times New Roman"/>
                <a:sym typeface="Times New Roman"/>
              </a:rPr>
              <a:t>Easier interpretability </a:t>
            </a:r>
            <a:r>
              <a:rPr lang="en-GB" sz="1600">
                <a:solidFill>
                  <a:srgbClr val="FFFFFF"/>
                </a:solidFill>
                <a:latin typeface="Times New Roman"/>
                <a:ea typeface="Times New Roman"/>
                <a:cs typeface="Times New Roman"/>
                <a:sym typeface="Times New Roman"/>
              </a:rPr>
              <a:t>for </a:t>
            </a:r>
            <a:r>
              <a:rPr lang="en-GB" sz="1500">
                <a:solidFill>
                  <a:srgbClr val="FFFFFF"/>
                </a:solidFill>
                <a:latin typeface="Times New Roman"/>
                <a:ea typeface="Times New Roman"/>
                <a:cs typeface="Times New Roman"/>
                <a:sym typeface="Times New Roman"/>
              </a:rPr>
              <a:t>healthcare professionals</a:t>
            </a:r>
            <a:endParaRPr sz="1500">
              <a:solidFill>
                <a:srgbClr val="FFFFF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500">
              <a:solidFill>
                <a:srgbClr val="FFFFFF"/>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04" name="Google Shape;304;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05" name="Google Shape;305;p41"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06" name="Google Shape;306;p41"/>
          <p:cNvSpPr txBox="1"/>
          <p:nvPr/>
        </p:nvSpPr>
        <p:spPr>
          <a:xfrm>
            <a:off x="-13800" y="277800"/>
            <a:ext cx="8652000" cy="410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GB" sz="2100" u="sng">
                <a:solidFill>
                  <a:schemeClr val="lt1"/>
                </a:solidFill>
                <a:latin typeface="Times New Roman"/>
                <a:ea typeface="Times New Roman"/>
                <a:cs typeface="Times New Roman"/>
                <a:sym typeface="Times New Roman"/>
              </a:rPr>
              <a:t>Hyperparameter Tuning Strategy</a:t>
            </a:r>
            <a:endParaRPr b="1" i="1" sz="21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b="1" i="1" sz="1900" u="sng">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To optimize the performance of our machine learning models and ensure they generalize well to unseen data, we employed GridSearchCV , a systematic and robust method for hyperparameter tuning.</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1. </a:t>
            </a:r>
            <a:r>
              <a:rPr b="1" i="1" lang="en-GB" sz="1700">
                <a:solidFill>
                  <a:schemeClr val="lt1"/>
                </a:solidFill>
                <a:latin typeface="Times New Roman"/>
                <a:ea typeface="Times New Roman"/>
                <a:cs typeface="Times New Roman"/>
                <a:sym typeface="Times New Roman"/>
              </a:rPr>
              <a:t>Random Forest (n_estimators, max_depth)</a:t>
            </a:r>
            <a:endParaRPr b="1" i="1"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We tuned the number of decision trees (n_estimators) and the maximum depth of each tree (max_depth) to find the optimal balance between model complexity and overfitting.</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2. </a:t>
            </a:r>
            <a:r>
              <a:rPr b="1" i="1" lang="en-GB" sz="1700">
                <a:solidFill>
                  <a:schemeClr val="lt1"/>
                </a:solidFill>
                <a:latin typeface="Times New Roman"/>
                <a:ea typeface="Times New Roman"/>
                <a:cs typeface="Times New Roman"/>
                <a:sym typeface="Times New Roman"/>
              </a:rPr>
              <a:t>Logistic Regression (penalty, C)</a:t>
            </a:r>
            <a:endParaRPr b="1" i="1" sz="17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The regularization type (penalty, e.g., L1 or L2) and inverse of regularization strength (C) were fine-tuned to enhance model interpretability and reduce overfitting, especially in binary classification tasks.</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3. </a:t>
            </a:r>
            <a:r>
              <a:rPr b="1" i="1" lang="en-GB" sz="1600">
                <a:solidFill>
                  <a:schemeClr val="lt1"/>
                </a:solidFill>
                <a:latin typeface="Times New Roman"/>
                <a:ea typeface="Times New Roman"/>
                <a:cs typeface="Times New Roman"/>
                <a:sym typeface="Times New Roman"/>
              </a:rPr>
              <a:t>LightGBM (learning_rate, num_leaves)</a:t>
            </a:r>
            <a:endParaRPr b="1" i="1"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We optimized the learning rate (learning_rate) and the number of leaves in each tree (num_leaves) to improve training speed and prediction accuracy, while avoiding overfitting on the training data.</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12" name="Google Shape;312;p4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13" name="Google Shape;313;p42"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14" name="Google Shape;314;p42"/>
          <p:cNvSpPr txBox="1"/>
          <p:nvPr/>
        </p:nvSpPr>
        <p:spPr>
          <a:xfrm>
            <a:off x="0" y="908750"/>
            <a:ext cx="8520600" cy="3140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GB" sz="1600">
                <a:solidFill>
                  <a:schemeClr val="lt1"/>
                </a:solidFill>
                <a:latin typeface="Times New Roman"/>
                <a:ea typeface="Times New Roman"/>
                <a:cs typeface="Times New Roman"/>
                <a:sym typeface="Times New Roman"/>
              </a:rPr>
              <a:t>1. 40-fold CV results for top models:</a:t>
            </a:r>
            <a:endParaRPr b="1"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600">
                <a:solidFill>
                  <a:schemeClr val="lt1"/>
                </a:solidFill>
                <a:latin typeface="Times New Roman"/>
                <a:ea typeface="Times New Roman"/>
                <a:cs typeface="Times New Roman"/>
                <a:sym typeface="Times New Roman"/>
              </a:rPr>
              <a:t>To ensure robustness and generalizability, we evaluated the performance of our top-performing models using 40-fold cross-validation , which provides a reliable estimate of how well the models perform across different data splits.Each model was trained and tested 40 times, with accuracy, precision, recall, and F1-score recorded in each fold.</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600">
                <a:solidFill>
                  <a:schemeClr val="lt1"/>
                </a:solidFill>
                <a:latin typeface="Times New Roman"/>
                <a:ea typeface="Times New Roman"/>
                <a:cs typeface="Times New Roman"/>
                <a:sym typeface="Times New Roman"/>
              </a:rPr>
              <a:t>2. Boxplot or bar chart showing performance stability:</a:t>
            </a:r>
            <a:endParaRPr b="1"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600">
                <a:solidFill>
                  <a:schemeClr val="lt1"/>
                </a:solidFill>
                <a:latin typeface="Times New Roman"/>
                <a:ea typeface="Times New Roman"/>
                <a:cs typeface="Times New Roman"/>
                <a:sym typeface="Times New Roman"/>
              </a:rPr>
              <a:t>We visualized the distribution of accuracy scores across all 40 folds using a boxplot , which shows the median, interquartile range, and any outliers in model performance.</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600">
                <a:solidFill>
                  <a:schemeClr val="lt1"/>
                </a:solidFill>
                <a:latin typeface="Times New Roman"/>
                <a:ea typeface="Times New Roman"/>
                <a:cs typeface="Times New Roman"/>
                <a:sym typeface="Times New Roman"/>
              </a:rPr>
              <a:t>Alternatively, a grouped bar chart can be used to display the mean accuracy ± standard deviation per model, allowing easy comparison of both average performance and variability.</a:t>
            </a:r>
            <a:endParaRPr sz="1600">
              <a:solidFill>
                <a:schemeClr val="lt1"/>
              </a:solidFill>
              <a:latin typeface="Times New Roman"/>
              <a:ea typeface="Times New Roman"/>
              <a:cs typeface="Times New Roman"/>
              <a:sym typeface="Times New Roman"/>
            </a:endParaRPr>
          </a:p>
        </p:txBody>
      </p:sp>
      <p:sp>
        <p:nvSpPr>
          <p:cNvPr id="315" name="Google Shape;315;p42"/>
          <p:cNvSpPr txBox="1"/>
          <p:nvPr/>
        </p:nvSpPr>
        <p:spPr>
          <a:xfrm>
            <a:off x="54525" y="164125"/>
            <a:ext cx="523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i="1" lang="en-GB" sz="2000" u="sng">
                <a:solidFill>
                  <a:schemeClr val="lt1"/>
                </a:solidFill>
                <a:latin typeface="Times New Roman"/>
                <a:ea typeface="Times New Roman"/>
                <a:cs typeface="Times New Roman"/>
                <a:sym typeface="Times New Roman"/>
              </a:rPr>
              <a:t>Cross-Validation Results</a:t>
            </a:r>
            <a:endParaRPr b="1" i="1" sz="2400" u="sng">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21" name="Google Shape;321;p4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22" name="Google Shape;322;p43"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pic>
        <p:nvPicPr>
          <p:cNvPr id="323" name="Google Shape;323;p43" title="Screenshot 2025-04-29 at 8.03.58 PM.png"/>
          <p:cNvPicPr preferRelativeResize="0"/>
          <p:nvPr/>
        </p:nvPicPr>
        <p:blipFill>
          <a:blip r:embed="rId4">
            <a:alphaModFix/>
          </a:blip>
          <a:stretch>
            <a:fillRect/>
          </a:stretch>
        </p:blipFill>
        <p:spPr>
          <a:xfrm>
            <a:off x="418375" y="1036000"/>
            <a:ext cx="8205972" cy="3226050"/>
          </a:xfrm>
          <a:prstGeom prst="rect">
            <a:avLst/>
          </a:prstGeom>
          <a:noFill/>
          <a:ln>
            <a:noFill/>
          </a:ln>
        </p:spPr>
      </p:pic>
      <p:sp>
        <p:nvSpPr>
          <p:cNvPr id="324" name="Google Shape;324;p43"/>
          <p:cNvSpPr txBox="1"/>
          <p:nvPr/>
        </p:nvSpPr>
        <p:spPr>
          <a:xfrm>
            <a:off x="127225" y="245925"/>
            <a:ext cx="523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000" u="sng">
                <a:solidFill>
                  <a:schemeClr val="lt1"/>
                </a:solidFill>
                <a:latin typeface="Times New Roman"/>
                <a:ea typeface="Times New Roman"/>
                <a:cs typeface="Times New Roman"/>
                <a:sym typeface="Times New Roman"/>
              </a:rPr>
              <a:t>Model Accuracy Comparison</a:t>
            </a:r>
            <a:endParaRPr b="1" i="1" sz="2000" u="sng">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30" name="Google Shape;330;p4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31" name="Google Shape;331;p44"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32" name="Google Shape;332;p44"/>
          <p:cNvSpPr txBox="1"/>
          <p:nvPr/>
        </p:nvSpPr>
        <p:spPr>
          <a:xfrm>
            <a:off x="0" y="236275"/>
            <a:ext cx="87186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000" u="sng">
                <a:solidFill>
                  <a:schemeClr val="lt1"/>
                </a:solidFill>
                <a:latin typeface="Times New Roman"/>
                <a:ea typeface="Times New Roman"/>
                <a:cs typeface="Times New Roman"/>
                <a:sym typeface="Times New Roman"/>
              </a:rPr>
              <a:t>Limitations of the Study</a:t>
            </a:r>
            <a:endParaRPr b="1" i="1" sz="20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1. Dataset size (only 541 patients):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The dataset includes only 541 patient records, which may limit the generalizability of the model and its ability to capture rare or complex patterns in PCOS presentation.</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2. Limited geographic/cultural diversity:</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The data primarily reflects a specific demographic group, potentially limiting the model’s effectiveness when applied to more diverse or global populations.</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3. Some missing values may affect reliability:</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Missing entries in key hormone-related features (e.g., TSH, Prolactin) were imputed using median values, which could introduce bias or reduce prediction accuracy if not handled carefully.</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4. No external validation yet:</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While internal validation via 40-fold cross-validation was performed, the model has not yet been tested on an independent, external dataset to confirm its performance in real-world clinical settings.</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38" name="Google Shape;338;p4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39" name="Google Shape;339;p45"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40" name="Google Shape;340;p45"/>
          <p:cNvSpPr txBox="1"/>
          <p:nvPr/>
        </p:nvSpPr>
        <p:spPr>
          <a:xfrm>
            <a:off x="0" y="69550"/>
            <a:ext cx="85983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000" u="sng">
                <a:solidFill>
                  <a:srgbClr val="FFFFFF"/>
                </a:solidFill>
                <a:latin typeface="Times New Roman"/>
                <a:ea typeface="Times New Roman"/>
                <a:cs typeface="Times New Roman"/>
                <a:sym typeface="Times New Roman"/>
              </a:rPr>
              <a:t>Real-world Application</a:t>
            </a:r>
            <a:endParaRPr b="1" i="1" sz="2000" u="sng">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GB">
                <a:solidFill>
                  <a:srgbClr val="FFFFFF"/>
                </a:solidFill>
                <a:latin typeface="Times New Roman"/>
                <a:ea typeface="Times New Roman"/>
                <a:cs typeface="Times New Roman"/>
                <a:sym typeface="Times New Roman"/>
              </a:rPr>
              <a:t>1.	</a:t>
            </a:r>
            <a:r>
              <a:rPr b="1" lang="en-GB">
                <a:solidFill>
                  <a:srgbClr val="FFFFFF"/>
                </a:solidFill>
                <a:latin typeface="Times New Roman"/>
                <a:ea typeface="Times New Roman"/>
                <a:cs typeface="Times New Roman"/>
                <a:sym typeface="Times New Roman"/>
              </a:rPr>
              <a:t>Potential integration with hospital systems</a:t>
            </a:r>
            <a:endParaRPr b="1">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Times New Roman"/>
              <a:ea typeface="Times New Roman"/>
              <a:cs typeface="Times New Roman"/>
              <a:sym typeface="Times New Roman"/>
            </a:endParaRPr>
          </a:p>
          <a:p>
            <a:pPr indent="0" lvl="0" marL="457200" rtl="0" algn="l">
              <a:spcBef>
                <a:spcPts val="0"/>
              </a:spcBef>
              <a:spcAft>
                <a:spcPts val="0"/>
              </a:spcAft>
              <a:buNone/>
            </a:pPr>
            <a:r>
              <a:rPr lang="en-GB">
                <a:solidFill>
                  <a:srgbClr val="FFFFFF"/>
                </a:solidFill>
                <a:latin typeface="Times New Roman"/>
                <a:ea typeface="Times New Roman"/>
                <a:cs typeface="Times New Roman"/>
                <a:sym typeface="Times New Roman"/>
              </a:rPr>
              <a:t>The model can be integrated into hospital electronic health record (EHR) systems to assist gynecologists and endocrinologists in diagnosing PCOS alongside routine lab results, enabling faster and more accurate decision-making.</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rgbClr val="FFFFFF"/>
                </a:solidFill>
                <a:latin typeface="Times New Roman"/>
                <a:ea typeface="Times New Roman"/>
                <a:cs typeface="Times New Roman"/>
                <a:sym typeface="Times New Roman"/>
              </a:rPr>
              <a:t>2.</a:t>
            </a:r>
            <a:r>
              <a:rPr b="1" lang="en-GB">
                <a:solidFill>
                  <a:srgbClr val="FFFFFF"/>
                </a:solidFill>
                <a:latin typeface="Times New Roman"/>
                <a:ea typeface="Times New Roman"/>
                <a:cs typeface="Times New Roman"/>
                <a:sym typeface="Times New Roman"/>
              </a:rPr>
              <a:t>	Use in primary care clinics for early screening</a:t>
            </a:r>
            <a:endParaRPr b="1">
              <a:solidFill>
                <a:srgbClr val="FFFFFF"/>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rgbClr val="FFFFFF"/>
              </a:solidFill>
              <a:latin typeface="Times New Roman"/>
              <a:ea typeface="Times New Roman"/>
              <a:cs typeface="Times New Roman"/>
              <a:sym typeface="Times New Roman"/>
            </a:endParaRPr>
          </a:p>
          <a:p>
            <a:pPr indent="0" lvl="0" marL="457200" rtl="0" algn="l">
              <a:spcBef>
                <a:spcPts val="0"/>
              </a:spcBef>
              <a:spcAft>
                <a:spcPts val="0"/>
              </a:spcAft>
              <a:buNone/>
            </a:pPr>
            <a:r>
              <a:rPr lang="en-GB">
                <a:solidFill>
                  <a:srgbClr val="FFFFFF"/>
                </a:solidFill>
                <a:latin typeface="Times New Roman"/>
                <a:ea typeface="Times New Roman"/>
                <a:cs typeface="Times New Roman"/>
                <a:sym typeface="Times New Roman"/>
              </a:rPr>
              <a:t>Primary care providers can use this tool during regular check-ups to screen women of reproductive age for PCOS, even before severe symptoms develop supporting early intervention and lifestyle management.</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rgbClr val="FFFFFF"/>
                </a:solidFill>
                <a:latin typeface="Times New Roman"/>
                <a:ea typeface="Times New Roman"/>
                <a:cs typeface="Times New Roman"/>
                <a:sym typeface="Times New Roman"/>
              </a:rPr>
              <a:t>     </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rgbClr val="FFFFFF"/>
                </a:solidFill>
                <a:latin typeface="Times New Roman"/>
                <a:ea typeface="Times New Roman"/>
                <a:cs typeface="Times New Roman"/>
                <a:sym typeface="Times New Roman"/>
              </a:rPr>
              <a:t>      </a:t>
            </a:r>
            <a:r>
              <a:rPr b="1" i="1" lang="en-GB" sz="1800" u="sng">
                <a:solidFill>
                  <a:srgbClr val="FFFFFF"/>
                </a:solidFill>
                <a:latin typeface="Times New Roman"/>
                <a:ea typeface="Times New Roman"/>
                <a:cs typeface="Times New Roman"/>
                <a:sym typeface="Times New Roman"/>
              </a:rPr>
              <a:t>	Benefits:</a:t>
            </a:r>
            <a:r>
              <a:rPr lang="en-GB">
                <a:solidFill>
                  <a:srgbClr val="FFFFFF"/>
                </a:solidFill>
                <a:latin typeface="Times New Roman"/>
                <a:ea typeface="Times New Roman"/>
                <a:cs typeface="Times New Roman"/>
                <a:sym typeface="Times New Roman"/>
              </a:rPr>
              <a:t> </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Reduces burden on specialists</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Enables early detection in non-urban or underserved areas</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Supports preventive healthcare strategies</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46" name="Google Shape;346;p4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47" name="Google Shape;347;p46"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48" name="Google Shape;348;p46"/>
          <p:cNvSpPr txBox="1"/>
          <p:nvPr/>
        </p:nvSpPr>
        <p:spPr>
          <a:xfrm>
            <a:off x="13050" y="1186500"/>
            <a:ext cx="85983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a:solidFill>
                  <a:srgbClr val="FFFFFF"/>
                </a:solidFill>
                <a:latin typeface="Times New Roman"/>
                <a:ea typeface="Times New Roman"/>
                <a:cs typeface="Times New Roman"/>
                <a:sym typeface="Times New Roman"/>
              </a:rPr>
              <a:t>3.	Web app or mobile platform for easy access</a:t>
            </a:r>
            <a:endParaRPr>
              <a:solidFill>
                <a:srgbClr val="FFFFFF"/>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rgbClr val="FFFFFF"/>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rPr lang="en-GB">
                <a:solidFill>
                  <a:srgbClr val="FFFFFF"/>
                </a:solidFill>
                <a:latin typeface="Times New Roman"/>
                <a:ea typeface="Times New Roman"/>
                <a:cs typeface="Times New Roman"/>
                <a:sym typeface="Times New Roman"/>
              </a:rPr>
              <a:t>A user-friendly web or mobile application can be developed for both healthcare professionals and patients, allowing quick input of clinical features and receiving instant risk assessment results.</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rgbClr val="FFFFFF"/>
              </a:solidFill>
              <a:latin typeface="Times New Roman"/>
              <a:ea typeface="Times New Roman"/>
              <a:cs typeface="Times New Roman"/>
              <a:sym typeface="Times New Roman"/>
            </a:endParaRPr>
          </a:p>
          <a:p>
            <a:pPr indent="457200" lvl="0" marL="0" rtl="0" algn="l">
              <a:spcBef>
                <a:spcPts val="0"/>
              </a:spcBef>
              <a:spcAft>
                <a:spcPts val="0"/>
              </a:spcAft>
              <a:buClr>
                <a:schemeClr val="dk1"/>
              </a:buClr>
              <a:buSzPts val="1100"/>
              <a:buFont typeface="Arial"/>
              <a:buNone/>
            </a:pPr>
            <a:r>
              <a:rPr lang="en-GB">
                <a:solidFill>
                  <a:srgbClr val="FFFFFF"/>
                </a:solidFill>
                <a:latin typeface="Times New Roman"/>
                <a:ea typeface="Times New Roman"/>
                <a:cs typeface="Times New Roman"/>
                <a:sym typeface="Times New Roman"/>
              </a:rPr>
              <a:t>Features could include: </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Symptom checklist + data entry form</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Instant PCOS risk score</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Suggested next steps or physician referral</a:t>
            </a:r>
            <a:endParaRPr>
              <a:solidFill>
                <a:srgbClr val="FFFFFF"/>
              </a:solidFill>
              <a:latin typeface="Times New Roman"/>
              <a:ea typeface="Times New Roman"/>
              <a:cs typeface="Times New Roman"/>
              <a:sym typeface="Times New Roman"/>
            </a:endParaRPr>
          </a:p>
          <a:p>
            <a:pPr indent="-317500" lvl="0" marL="914400" rtl="0" algn="l">
              <a:spcBef>
                <a:spcPts val="0"/>
              </a:spcBef>
              <a:spcAft>
                <a:spcPts val="0"/>
              </a:spcAft>
              <a:buClr>
                <a:srgbClr val="FFFFFF"/>
              </a:buClr>
              <a:buSzPts val="1400"/>
              <a:buFont typeface="Times New Roman"/>
              <a:buChar char="●"/>
            </a:pPr>
            <a:r>
              <a:rPr lang="en-GB">
                <a:solidFill>
                  <a:srgbClr val="FFFFFF"/>
                </a:solidFill>
                <a:latin typeface="Times New Roman"/>
                <a:ea typeface="Times New Roman"/>
                <a:cs typeface="Times New Roman"/>
                <a:sym typeface="Times New Roman"/>
              </a:rPr>
              <a:t>Educational resources about PCOS</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54" name="Google Shape;354;p4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55" name="Google Shape;355;p47"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56" name="Google Shape;356;p47"/>
          <p:cNvSpPr txBox="1"/>
          <p:nvPr/>
        </p:nvSpPr>
        <p:spPr>
          <a:xfrm>
            <a:off x="0" y="0"/>
            <a:ext cx="8364600" cy="477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i="1" sz="2200" u="sng">
              <a:solidFill>
                <a:schemeClr val="lt1"/>
              </a:solidFill>
            </a:endParaRPr>
          </a:p>
          <a:p>
            <a:pPr indent="0" lvl="0" marL="0" rtl="0" algn="l">
              <a:spcBef>
                <a:spcPts val="0"/>
              </a:spcBef>
              <a:spcAft>
                <a:spcPts val="0"/>
              </a:spcAft>
              <a:buNone/>
            </a:pPr>
            <a:r>
              <a:rPr b="1" i="1" lang="en-GB" sz="2200" u="sng">
                <a:solidFill>
                  <a:schemeClr val="lt1"/>
                </a:solidFill>
                <a:latin typeface="Times New Roman"/>
                <a:ea typeface="Times New Roman"/>
                <a:cs typeface="Times New Roman"/>
                <a:sym typeface="Times New Roman"/>
              </a:rPr>
              <a:t>Future Work</a:t>
            </a:r>
            <a:endParaRPr b="1" i="1" sz="2200" u="sng">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1. Expand dataset with international sources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To improve the model's generalizability, we plan to incorporate data from international repositories and clinical studies, ensuring representation across diverse ethnicities, age groups, and geographic regions.</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2. Add sentiment analysis of patient-reported symptoms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We aim to integrate natural language processing (NLP) techniques to analyze patient-reported symptoms (e.g., fatigue, mood changes) described in free-text formats, uncovering subtle patterns that may correlate with PCOS progression.</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3. Implement model as web service/API</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The final model will be deployed as a lightweight web application or RESTful API, enabling healthcare providers and patients to access diagnostic predictions instantly through a secure interface.</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b="1" lang="en-GB" sz="1500">
                <a:solidFill>
                  <a:schemeClr val="lt1"/>
                </a:solidFill>
                <a:latin typeface="Times New Roman"/>
                <a:ea typeface="Times New Roman"/>
                <a:cs typeface="Times New Roman"/>
                <a:sym typeface="Times New Roman"/>
              </a:rPr>
              <a:t>4. Conduct prospective clinical trials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Before full-scale deployment, the model must undergo prospective clinical validation , where it is tested in real-time medical settings to evaluate its accuracy, usability, and impact on clinical decision-making.</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62" name="Google Shape;362;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63" name="Google Shape;363;p48"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64" name="Google Shape;364;p48"/>
          <p:cNvSpPr txBox="1"/>
          <p:nvPr/>
        </p:nvSpPr>
        <p:spPr>
          <a:xfrm>
            <a:off x="0" y="672475"/>
            <a:ext cx="8460300" cy="3879000"/>
          </a:xfrm>
          <a:prstGeom prst="rect">
            <a:avLst/>
          </a:prstGeom>
          <a:noFill/>
          <a:ln>
            <a:noFill/>
          </a:ln>
        </p:spPr>
        <p:txBody>
          <a:bodyPr anchorCtr="0" anchor="t" bIns="91425" lIns="91425" spcFirstLastPara="1" rIns="91425" wrap="square" tIns="91425">
            <a:spAutoFit/>
          </a:bodyPr>
          <a:lstStyle/>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Machine learning can aid early PCOS diagnosis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By applying data-driven models to clinical and physical features, machine learning enables accurate and efficient identification of PCOS, supporting early intervention and improved patient outcomes.</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FSH/LH ratio is the most predictive feature</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Through univariate feature selection and SHAP-based interpretability, the FSH/LH hormone ratio emerged as the most significant predictor of PCOS, aligning with clinical understanding of the syndrome.</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RFLR offers high performance and interpretability</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The hybrid Random Forest + Logistic Regression (RFLR) model achieved the best balance between accuracy (91.01%) and recall (90%), making it ideal for medical use where both performance and transparency are essential.</a:t>
            </a:r>
            <a:endParaRPr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323850" lvl="0" marL="457200" rtl="0" algn="just">
              <a:spcBef>
                <a:spcPts val="0"/>
              </a:spcBef>
              <a:spcAft>
                <a:spcPts val="0"/>
              </a:spcAft>
              <a:buClr>
                <a:schemeClr val="lt1"/>
              </a:buClr>
              <a:buSzPts val="1500"/>
              <a:buFont typeface="Times New Roman"/>
              <a:buChar char="●"/>
            </a:pPr>
            <a:r>
              <a:rPr b="1" lang="en-GB" sz="1500">
                <a:solidFill>
                  <a:schemeClr val="lt1"/>
                </a:solidFill>
                <a:latin typeface="Times New Roman"/>
                <a:ea typeface="Times New Roman"/>
                <a:cs typeface="Times New Roman"/>
                <a:sym typeface="Times New Roman"/>
              </a:rPr>
              <a:t>Explainable AI improves trust in medical settings</a:t>
            </a:r>
            <a:endParaRPr b="1" sz="15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rPr lang="en-GB" sz="1500">
                <a:solidFill>
                  <a:schemeClr val="lt1"/>
                </a:solidFill>
                <a:latin typeface="Times New Roman"/>
                <a:ea typeface="Times New Roman"/>
                <a:cs typeface="Times New Roman"/>
                <a:sym typeface="Times New Roman"/>
              </a:rPr>
              <a:t>Using tools like SHAP and LIME , we made model predictions interpretable — increasing clinician trust and enabling actionable insights from model outputs.</a:t>
            </a:r>
            <a:endParaRPr sz="1500">
              <a:solidFill>
                <a:schemeClr val="lt1"/>
              </a:solidFill>
              <a:latin typeface="Times New Roman"/>
              <a:ea typeface="Times New Roman"/>
              <a:cs typeface="Times New Roman"/>
              <a:sym typeface="Times New Roman"/>
            </a:endParaRPr>
          </a:p>
        </p:txBody>
      </p:sp>
      <p:sp>
        <p:nvSpPr>
          <p:cNvPr id="365" name="Google Shape;365;p48"/>
          <p:cNvSpPr txBox="1"/>
          <p:nvPr/>
        </p:nvSpPr>
        <p:spPr>
          <a:xfrm>
            <a:off x="90875" y="181750"/>
            <a:ext cx="523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2000" u="sng">
                <a:solidFill>
                  <a:schemeClr val="lt1"/>
                </a:solidFill>
                <a:latin typeface="Times New Roman"/>
                <a:ea typeface="Times New Roman"/>
                <a:cs typeface="Times New Roman"/>
                <a:sym typeface="Times New Roman"/>
              </a:rPr>
              <a:t>Conclusion</a:t>
            </a:r>
            <a:endParaRPr b="1" i="1" sz="2000" u="sng">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71" name="Google Shape;371;p4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72" name="Google Shape;372;p49" title="DPA_BG.jpg"/>
          <p:cNvPicPr preferRelativeResize="0"/>
          <p:nvPr/>
        </p:nvPicPr>
        <p:blipFill>
          <a:blip r:embed="rId3">
            <a:alphaModFix/>
          </a:blip>
          <a:stretch>
            <a:fillRect/>
          </a:stretch>
        </p:blipFill>
        <p:spPr>
          <a:xfrm>
            <a:off x="-519600" y="-287275"/>
            <a:ext cx="9663600" cy="5430776"/>
          </a:xfrm>
          <a:prstGeom prst="rect">
            <a:avLst/>
          </a:prstGeom>
          <a:noFill/>
          <a:ln>
            <a:noFill/>
          </a:ln>
        </p:spPr>
      </p:pic>
      <p:sp>
        <p:nvSpPr>
          <p:cNvPr id="373" name="Google Shape;373;p49"/>
          <p:cNvSpPr txBox="1"/>
          <p:nvPr/>
        </p:nvSpPr>
        <p:spPr>
          <a:xfrm>
            <a:off x="0" y="0"/>
            <a:ext cx="8364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solidFill>
                <a:schemeClr val="lt1"/>
              </a:solidFill>
            </a:endParaRPr>
          </a:p>
        </p:txBody>
      </p:sp>
      <p:sp>
        <p:nvSpPr>
          <p:cNvPr id="374" name="Google Shape;374;p49"/>
          <p:cNvSpPr txBox="1"/>
          <p:nvPr/>
        </p:nvSpPr>
        <p:spPr>
          <a:xfrm>
            <a:off x="0" y="0"/>
            <a:ext cx="78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75" name="Google Shape;375;p49"/>
          <p:cNvSpPr txBox="1"/>
          <p:nvPr/>
        </p:nvSpPr>
        <p:spPr>
          <a:xfrm>
            <a:off x="0" y="0"/>
            <a:ext cx="7851600" cy="3940500"/>
          </a:xfrm>
          <a:prstGeom prst="rect">
            <a:avLst/>
          </a:prstGeom>
          <a:noFill/>
          <a:ln>
            <a:noFill/>
          </a:ln>
        </p:spPr>
        <p:txBody>
          <a:bodyPr anchorCtr="0" anchor="t" bIns="91425" lIns="91425" spcFirstLastPara="1" rIns="91425" wrap="square" tIns="91425">
            <a:spAutoFit/>
          </a:bodyPr>
          <a:lstStyle/>
          <a:p>
            <a:pPr indent="457200" lvl="0" marL="2743200" rtl="0" algn="l">
              <a:spcBef>
                <a:spcPts val="0"/>
              </a:spcBef>
              <a:spcAft>
                <a:spcPts val="0"/>
              </a:spcAft>
              <a:buNone/>
            </a:pPr>
            <a:r>
              <a:t/>
            </a:r>
            <a:endParaRPr sz="4700">
              <a:solidFill>
                <a:schemeClr val="lt1"/>
              </a:solidFill>
              <a:latin typeface="Times New Roman"/>
              <a:ea typeface="Times New Roman"/>
              <a:cs typeface="Times New Roman"/>
              <a:sym typeface="Times New Roman"/>
            </a:endParaRPr>
          </a:p>
          <a:p>
            <a:pPr indent="457200" lvl="0" marL="2743200" rtl="0" algn="l">
              <a:spcBef>
                <a:spcPts val="0"/>
              </a:spcBef>
              <a:spcAft>
                <a:spcPts val="0"/>
              </a:spcAft>
              <a:buNone/>
            </a:pPr>
            <a:r>
              <a:t/>
            </a:r>
            <a:endParaRPr sz="4700">
              <a:solidFill>
                <a:schemeClr val="lt1"/>
              </a:solidFill>
              <a:latin typeface="Times New Roman"/>
              <a:ea typeface="Times New Roman"/>
              <a:cs typeface="Times New Roman"/>
              <a:sym typeface="Times New Roman"/>
            </a:endParaRPr>
          </a:p>
          <a:p>
            <a:pPr indent="457200" lvl="0" marL="2743200" rtl="0" algn="l">
              <a:spcBef>
                <a:spcPts val="0"/>
              </a:spcBef>
              <a:spcAft>
                <a:spcPts val="0"/>
              </a:spcAft>
              <a:buNone/>
            </a:pPr>
            <a:r>
              <a:t/>
            </a:r>
            <a:endParaRPr sz="4700">
              <a:solidFill>
                <a:schemeClr val="lt1"/>
              </a:solidFill>
              <a:latin typeface="Times New Roman"/>
              <a:ea typeface="Times New Roman"/>
              <a:cs typeface="Times New Roman"/>
              <a:sym typeface="Times New Roman"/>
            </a:endParaRPr>
          </a:p>
          <a:p>
            <a:pPr indent="0" lvl="0" marL="2743200" rtl="0" algn="l">
              <a:spcBef>
                <a:spcPts val="0"/>
              </a:spcBef>
              <a:spcAft>
                <a:spcPts val="0"/>
              </a:spcAft>
              <a:buNone/>
            </a:pPr>
            <a:r>
              <a:rPr lang="en-GB" sz="4700">
                <a:solidFill>
                  <a:schemeClr val="lt1"/>
                </a:solidFill>
                <a:latin typeface="Times New Roman"/>
                <a:ea typeface="Times New Roman"/>
                <a:cs typeface="Times New Roman"/>
                <a:sym typeface="Times New Roman"/>
              </a:rPr>
              <a:t>Thank you!</a:t>
            </a:r>
            <a:endParaRPr sz="47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457200" lvl="0" marL="1828800" rtl="0" algn="l">
              <a:spcBef>
                <a:spcPts val="0"/>
              </a:spcBef>
              <a:spcAft>
                <a:spcPts val="0"/>
              </a:spcAft>
              <a:buNone/>
            </a:pPr>
            <a:r>
              <a:rPr lang="en-GB" sz="3200">
                <a:solidFill>
                  <a:schemeClr val="lt1"/>
                </a:solidFill>
                <a:latin typeface="Times New Roman"/>
                <a:ea typeface="Times New Roman"/>
                <a:cs typeface="Times New Roman"/>
                <a:sym typeface="Times New Roman"/>
              </a:rPr>
              <a:t>   </a:t>
            </a:r>
            <a:endParaRPr sz="24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